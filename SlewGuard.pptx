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5"/>
  </p:notesMasterIdLst>
  <p:sldIdLst>
    <p:sldId id="256" r:id="rId5"/>
    <p:sldId id="268" r:id="rId6"/>
    <p:sldId id="257" r:id="rId7"/>
    <p:sldId id="258" r:id="rId8"/>
    <p:sldId id="267" r:id="rId9"/>
    <p:sldId id="266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BEA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40738D-7594-64A6-2D0A-9B682DA8EBC1}" v="4" dt="2026-05-01T00:29:59.556"/>
    <p1510:client id="{C76BC34C-DBEF-4287-A99B-34EA905A8AF4}" v="1" dt="2026-05-01T02:31:43.675"/>
    <p1510:client id="{D36DC05A-16C8-3040-86F3-F65416E7597F}" v="241" dt="2026-05-01T00:39:39.86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30939" autoAdjust="0"/>
  </p:normalViewPr>
  <p:slideViewPr>
    <p:cSldViewPr snapToGrid="0">
      <p:cViewPr varScale="1">
        <p:scale>
          <a:sx n="21" d="100"/>
          <a:sy n="21" d="100"/>
        </p:scale>
        <p:origin x="3031" y="24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0B8F1C2-713F-4819-85E1-588401508B23}" type="doc">
      <dgm:prSet loTypeId="urn:microsoft.com/office/officeart/2005/8/layout/list1" loCatId="list" qsTypeId="urn:microsoft.com/office/officeart/2005/8/quickstyle/simple4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9DCB16CC-6E96-42DB-AEC0-C6E7FDA7BEA6}">
      <dgm:prSet/>
      <dgm:spPr/>
      <dgm:t>
        <a:bodyPr/>
        <a:lstStyle/>
        <a:p>
          <a:r>
            <a:rPr lang="en-US"/>
            <a:t>Problem Statement</a:t>
          </a:r>
        </a:p>
      </dgm:t>
    </dgm:pt>
    <dgm:pt modelId="{600D8772-4684-48E0-B085-D4FA0991EA0F}" type="parTrans" cxnId="{9B5C44A4-D0D8-44B0-8965-F9C624314481}">
      <dgm:prSet/>
      <dgm:spPr/>
      <dgm:t>
        <a:bodyPr/>
        <a:lstStyle/>
        <a:p>
          <a:endParaRPr lang="en-US"/>
        </a:p>
      </dgm:t>
    </dgm:pt>
    <dgm:pt modelId="{CAC69139-4D5C-4888-AB43-4930D2C0EE58}" type="sibTrans" cxnId="{9B5C44A4-D0D8-44B0-8965-F9C624314481}">
      <dgm:prSet/>
      <dgm:spPr/>
      <dgm:t>
        <a:bodyPr/>
        <a:lstStyle/>
        <a:p>
          <a:endParaRPr lang="en-US"/>
        </a:p>
      </dgm:t>
    </dgm:pt>
    <dgm:pt modelId="{7FCFC91E-13C4-4785-9BCA-02D372181A7F}">
      <dgm:prSet/>
      <dgm:spPr/>
      <dgm:t>
        <a:bodyPr/>
        <a:lstStyle/>
        <a:p>
          <a:r>
            <a:rPr lang="en-US"/>
            <a:t>Slew Guard Architecture</a:t>
          </a:r>
        </a:p>
      </dgm:t>
    </dgm:pt>
    <dgm:pt modelId="{8E466D9A-0013-42E7-BC41-1A912A32FB90}" type="parTrans" cxnId="{B76180AC-9D04-4393-9822-3AD1A3C4E036}">
      <dgm:prSet/>
      <dgm:spPr/>
      <dgm:t>
        <a:bodyPr/>
        <a:lstStyle/>
        <a:p>
          <a:endParaRPr lang="en-US"/>
        </a:p>
      </dgm:t>
    </dgm:pt>
    <dgm:pt modelId="{7C5EAB25-795D-47E1-B960-5C05C907F4C8}" type="sibTrans" cxnId="{B76180AC-9D04-4393-9822-3AD1A3C4E036}">
      <dgm:prSet/>
      <dgm:spPr/>
      <dgm:t>
        <a:bodyPr/>
        <a:lstStyle/>
        <a:p>
          <a:endParaRPr lang="en-US"/>
        </a:p>
      </dgm:t>
    </dgm:pt>
    <dgm:pt modelId="{DB91828F-58F8-461A-BF52-EE68DC054FB4}">
      <dgm:prSet/>
      <dgm:spPr/>
      <dgm:t>
        <a:bodyPr/>
        <a:lstStyle/>
        <a:p>
          <a:r>
            <a:rPr lang="en-US"/>
            <a:t>Controller Operation</a:t>
          </a:r>
        </a:p>
      </dgm:t>
    </dgm:pt>
    <dgm:pt modelId="{95BC21AE-FAB7-4130-ADEB-63167EBB4DEA}" type="parTrans" cxnId="{34477F29-8293-4A6B-B8EA-DDEF227D412D}">
      <dgm:prSet/>
      <dgm:spPr/>
      <dgm:t>
        <a:bodyPr/>
        <a:lstStyle/>
        <a:p>
          <a:endParaRPr lang="en-US"/>
        </a:p>
      </dgm:t>
    </dgm:pt>
    <dgm:pt modelId="{57CA507D-DC30-4853-B8BB-7A4BB3806972}" type="sibTrans" cxnId="{34477F29-8293-4A6B-B8EA-DDEF227D412D}">
      <dgm:prSet/>
      <dgm:spPr/>
      <dgm:t>
        <a:bodyPr/>
        <a:lstStyle/>
        <a:p>
          <a:endParaRPr lang="en-US"/>
        </a:p>
      </dgm:t>
    </dgm:pt>
    <dgm:pt modelId="{688BCE68-CE32-4923-AEE1-D1ED375D9180}">
      <dgm:prSet/>
      <dgm:spPr/>
      <dgm:t>
        <a:bodyPr/>
        <a:lstStyle/>
        <a:p>
          <a:r>
            <a:rPr lang="en-US"/>
            <a:t>Workload Specifications</a:t>
          </a:r>
        </a:p>
      </dgm:t>
    </dgm:pt>
    <dgm:pt modelId="{68B251AA-42AA-4B85-9BEF-7D7DE51318B7}" type="parTrans" cxnId="{0A8666A4-120C-498B-A745-DC80F9077C1D}">
      <dgm:prSet/>
      <dgm:spPr/>
      <dgm:t>
        <a:bodyPr/>
        <a:lstStyle/>
        <a:p>
          <a:endParaRPr lang="en-US"/>
        </a:p>
      </dgm:t>
    </dgm:pt>
    <dgm:pt modelId="{5C94FE7D-C8F1-4933-9791-18970826C9C2}" type="sibTrans" cxnId="{0A8666A4-120C-498B-A745-DC80F9077C1D}">
      <dgm:prSet/>
      <dgm:spPr/>
      <dgm:t>
        <a:bodyPr/>
        <a:lstStyle/>
        <a:p>
          <a:endParaRPr lang="en-US"/>
        </a:p>
      </dgm:t>
    </dgm:pt>
    <dgm:pt modelId="{93B0EFB1-65AE-4875-97AD-AE390B748DDC}">
      <dgm:prSet/>
      <dgm:spPr/>
      <dgm:t>
        <a:bodyPr/>
        <a:lstStyle/>
        <a:p>
          <a:r>
            <a:rPr lang="en-US"/>
            <a:t>Workload Performance Results</a:t>
          </a:r>
        </a:p>
      </dgm:t>
    </dgm:pt>
    <dgm:pt modelId="{BAD8DBF1-6FB3-4C3D-A3BC-5A514EE90D13}" type="parTrans" cxnId="{80DAA6CD-59C8-48EC-B61D-FD19497346A1}">
      <dgm:prSet/>
      <dgm:spPr/>
      <dgm:t>
        <a:bodyPr/>
        <a:lstStyle/>
        <a:p>
          <a:endParaRPr lang="en-US"/>
        </a:p>
      </dgm:t>
    </dgm:pt>
    <dgm:pt modelId="{3ED17E60-E3F5-439E-994A-76B5C5344195}" type="sibTrans" cxnId="{80DAA6CD-59C8-48EC-B61D-FD19497346A1}">
      <dgm:prSet/>
      <dgm:spPr/>
      <dgm:t>
        <a:bodyPr/>
        <a:lstStyle/>
        <a:p>
          <a:endParaRPr lang="en-US"/>
        </a:p>
      </dgm:t>
    </dgm:pt>
    <dgm:pt modelId="{23B06095-1A32-4523-A354-71AC0808C829}">
      <dgm:prSet/>
      <dgm:spPr/>
      <dgm:t>
        <a:bodyPr/>
        <a:lstStyle/>
        <a:p>
          <a:r>
            <a:rPr lang="en-US"/>
            <a:t>Sensitivity to PDN specs</a:t>
          </a:r>
        </a:p>
      </dgm:t>
    </dgm:pt>
    <dgm:pt modelId="{D306AE1D-6F25-404E-8987-3CE64DF5C30A}" type="parTrans" cxnId="{58A6A3A0-CBC5-4AED-9062-6217FC35B0EE}">
      <dgm:prSet/>
      <dgm:spPr/>
      <dgm:t>
        <a:bodyPr/>
        <a:lstStyle/>
        <a:p>
          <a:endParaRPr lang="en-US"/>
        </a:p>
      </dgm:t>
    </dgm:pt>
    <dgm:pt modelId="{38ADCAFD-7F17-4E07-9E6A-0EDE65DBEA2B}" type="sibTrans" cxnId="{58A6A3A0-CBC5-4AED-9062-6217FC35B0EE}">
      <dgm:prSet/>
      <dgm:spPr/>
      <dgm:t>
        <a:bodyPr/>
        <a:lstStyle/>
        <a:p>
          <a:endParaRPr lang="en-US"/>
        </a:p>
      </dgm:t>
    </dgm:pt>
    <dgm:pt modelId="{35DE8FA1-F830-4144-B1E0-E0D9F166CB77}">
      <dgm:prSet/>
      <dgm:spPr/>
      <dgm:t>
        <a:bodyPr/>
        <a:lstStyle/>
        <a:p>
          <a:r>
            <a:rPr lang="en-US"/>
            <a:t>Conclusion</a:t>
          </a:r>
        </a:p>
      </dgm:t>
    </dgm:pt>
    <dgm:pt modelId="{2DCEA579-61C1-45D5-93C6-338EB3E056E9}" type="parTrans" cxnId="{4DDF1E2C-9664-46C1-A25D-2955A05B03B5}">
      <dgm:prSet/>
      <dgm:spPr/>
      <dgm:t>
        <a:bodyPr/>
        <a:lstStyle/>
        <a:p>
          <a:endParaRPr lang="en-US"/>
        </a:p>
      </dgm:t>
    </dgm:pt>
    <dgm:pt modelId="{E8704A65-7897-4CC1-98E8-BAF47FB262D1}" type="sibTrans" cxnId="{4DDF1E2C-9664-46C1-A25D-2955A05B03B5}">
      <dgm:prSet/>
      <dgm:spPr/>
      <dgm:t>
        <a:bodyPr/>
        <a:lstStyle/>
        <a:p>
          <a:endParaRPr lang="en-US"/>
        </a:p>
      </dgm:t>
    </dgm:pt>
    <dgm:pt modelId="{B1E491DC-FCD5-8344-8F00-07CB29EB26A1}" type="pres">
      <dgm:prSet presAssocID="{30B8F1C2-713F-4819-85E1-588401508B23}" presName="linear" presStyleCnt="0">
        <dgm:presLayoutVars>
          <dgm:dir/>
          <dgm:animLvl val="lvl"/>
          <dgm:resizeHandles val="exact"/>
        </dgm:presLayoutVars>
      </dgm:prSet>
      <dgm:spPr/>
    </dgm:pt>
    <dgm:pt modelId="{4A12D77C-0F66-B646-809A-C74E7487DEA4}" type="pres">
      <dgm:prSet presAssocID="{9DCB16CC-6E96-42DB-AEC0-C6E7FDA7BEA6}" presName="parentLin" presStyleCnt="0"/>
      <dgm:spPr/>
    </dgm:pt>
    <dgm:pt modelId="{3F2AD922-13A1-8545-8AE9-C208B4CCAC7F}" type="pres">
      <dgm:prSet presAssocID="{9DCB16CC-6E96-42DB-AEC0-C6E7FDA7BEA6}" presName="parentLeftMargin" presStyleLbl="node1" presStyleIdx="0" presStyleCnt="6"/>
      <dgm:spPr/>
    </dgm:pt>
    <dgm:pt modelId="{C4A4F08C-6EC2-CE4D-9A16-2A53C82CD038}" type="pres">
      <dgm:prSet presAssocID="{9DCB16CC-6E96-42DB-AEC0-C6E7FDA7BEA6}" presName="parentText" presStyleLbl="node1" presStyleIdx="0" presStyleCnt="6">
        <dgm:presLayoutVars>
          <dgm:chMax val="0"/>
          <dgm:bulletEnabled val="1"/>
        </dgm:presLayoutVars>
      </dgm:prSet>
      <dgm:spPr/>
    </dgm:pt>
    <dgm:pt modelId="{626E249D-CEE8-6848-85B1-67A2C1E5E6D9}" type="pres">
      <dgm:prSet presAssocID="{9DCB16CC-6E96-42DB-AEC0-C6E7FDA7BEA6}" presName="negativeSpace" presStyleCnt="0"/>
      <dgm:spPr/>
    </dgm:pt>
    <dgm:pt modelId="{7398189A-32E3-5942-852C-C7629DE332EE}" type="pres">
      <dgm:prSet presAssocID="{9DCB16CC-6E96-42DB-AEC0-C6E7FDA7BEA6}" presName="childText" presStyleLbl="conFgAcc1" presStyleIdx="0" presStyleCnt="6">
        <dgm:presLayoutVars>
          <dgm:bulletEnabled val="1"/>
        </dgm:presLayoutVars>
      </dgm:prSet>
      <dgm:spPr/>
    </dgm:pt>
    <dgm:pt modelId="{C0171D47-7889-404C-9C9E-77FBE66FD21E}" type="pres">
      <dgm:prSet presAssocID="{CAC69139-4D5C-4888-AB43-4930D2C0EE58}" presName="spaceBetweenRectangles" presStyleCnt="0"/>
      <dgm:spPr/>
    </dgm:pt>
    <dgm:pt modelId="{861B7784-DD77-5E4B-9A30-3CA9ED1FDBDD}" type="pres">
      <dgm:prSet presAssocID="{7FCFC91E-13C4-4785-9BCA-02D372181A7F}" presName="parentLin" presStyleCnt="0"/>
      <dgm:spPr/>
    </dgm:pt>
    <dgm:pt modelId="{8F418438-74BC-7E4F-A9F6-AB214687D80F}" type="pres">
      <dgm:prSet presAssocID="{7FCFC91E-13C4-4785-9BCA-02D372181A7F}" presName="parentLeftMargin" presStyleLbl="node1" presStyleIdx="0" presStyleCnt="6"/>
      <dgm:spPr/>
    </dgm:pt>
    <dgm:pt modelId="{C3BE7C74-C01B-7A44-84B1-E156D5438CD2}" type="pres">
      <dgm:prSet presAssocID="{7FCFC91E-13C4-4785-9BCA-02D372181A7F}" presName="parentText" presStyleLbl="node1" presStyleIdx="1" presStyleCnt="6">
        <dgm:presLayoutVars>
          <dgm:chMax val="0"/>
          <dgm:bulletEnabled val="1"/>
        </dgm:presLayoutVars>
      </dgm:prSet>
      <dgm:spPr/>
    </dgm:pt>
    <dgm:pt modelId="{AE3C7B7B-3587-2D4B-8078-B56BA2CEE824}" type="pres">
      <dgm:prSet presAssocID="{7FCFC91E-13C4-4785-9BCA-02D372181A7F}" presName="negativeSpace" presStyleCnt="0"/>
      <dgm:spPr/>
    </dgm:pt>
    <dgm:pt modelId="{9A84256C-F2FB-0D46-8F04-B42BB71CAD54}" type="pres">
      <dgm:prSet presAssocID="{7FCFC91E-13C4-4785-9BCA-02D372181A7F}" presName="childText" presStyleLbl="conFgAcc1" presStyleIdx="1" presStyleCnt="6">
        <dgm:presLayoutVars>
          <dgm:bulletEnabled val="1"/>
        </dgm:presLayoutVars>
      </dgm:prSet>
      <dgm:spPr/>
    </dgm:pt>
    <dgm:pt modelId="{4E212906-20F0-D94D-A559-DE224619AD33}" type="pres">
      <dgm:prSet presAssocID="{7C5EAB25-795D-47E1-B960-5C05C907F4C8}" presName="spaceBetweenRectangles" presStyleCnt="0"/>
      <dgm:spPr/>
    </dgm:pt>
    <dgm:pt modelId="{F605D0E9-A410-864B-A6BD-8D418495BEAC}" type="pres">
      <dgm:prSet presAssocID="{DB91828F-58F8-461A-BF52-EE68DC054FB4}" presName="parentLin" presStyleCnt="0"/>
      <dgm:spPr/>
    </dgm:pt>
    <dgm:pt modelId="{22807D84-94B5-7241-B082-1B4E9C16BE1B}" type="pres">
      <dgm:prSet presAssocID="{DB91828F-58F8-461A-BF52-EE68DC054FB4}" presName="parentLeftMargin" presStyleLbl="node1" presStyleIdx="1" presStyleCnt="6"/>
      <dgm:spPr/>
    </dgm:pt>
    <dgm:pt modelId="{D24829E8-2B4B-2F44-9A4E-712B05501801}" type="pres">
      <dgm:prSet presAssocID="{DB91828F-58F8-461A-BF52-EE68DC054FB4}" presName="parentText" presStyleLbl="node1" presStyleIdx="2" presStyleCnt="6">
        <dgm:presLayoutVars>
          <dgm:chMax val="0"/>
          <dgm:bulletEnabled val="1"/>
        </dgm:presLayoutVars>
      </dgm:prSet>
      <dgm:spPr/>
    </dgm:pt>
    <dgm:pt modelId="{8BE6F59F-467C-4C45-8AEE-41477FA264CA}" type="pres">
      <dgm:prSet presAssocID="{DB91828F-58F8-461A-BF52-EE68DC054FB4}" presName="negativeSpace" presStyleCnt="0"/>
      <dgm:spPr/>
    </dgm:pt>
    <dgm:pt modelId="{B5D84F40-C277-5245-9270-307317A71FF6}" type="pres">
      <dgm:prSet presAssocID="{DB91828F-58F8-461A-BF52-EE68DC054FB4}" presName="childText" presStyleLbl="conFgAcc1" presStyleIdx="2" presStyleCnt="6">
        <dgm:presLayoutVars>
          <dgm:bulletEnabled val="1"/>
        </dgm:presLayoutVars>
      </dgm:prSet>
      <dgm:spPr/>
    </dgm:pt>
    <dgm:pt modelId="{3E93A479-DEFC-464B-A8B1-25214A9F7BBB}" type="pres">
      <dgm:prSet presAssocID="{57CA507D-DC30-4853-B8BB-7A4BB3806972}" presName="spaceBetweenRectangles" presStyleCnt="0"/>
      <dgm:spPr/>
    </dgm:pt>
    <dgm:pt modelId="{2F166A43-8361-2C40-99B5-BE4579A961D7}" type="pres">
      <dgm:prSet presAssocID="{688BCE68-CE32-4923-AEE1-D1ED375D9180}" presName="parentLin" presStyleCnt="0"/>
      <dgm:spPr/>
    </dgm:pt>
    <dgm:pt modelId="{1A896581-8A67-2C4E-9B4D-6F53FA2D0EA2}" type="pres">
      <dgm:prSet presAssocID="{688BCE68-CE32-4923-AEE1-D1ED375D9180}" presName="parentLeftMargin" presStyleLbl="node1" presStyleIdx="2" presStyleCnt="6"/>
      <dgm:spPr/>
    </dgm:pt>
    <dgm:pt modelId="{C0329830-F239-564A-8164-72F20D4153D4}" type="pres">
      <dgm:prSet presAssocID="{688BCE68-CE32-4923-AEE1-D1ED375D9180}" presName="parentText" presStyleLbl="node1" presStyleIdx="3" presStyleCnt="6">
        <dgm:presLayoutVars>
          <dgm:chMax val="0"/>
          <dgm:bulletEnabled val="1"/>
        </dgm:presLayoutVars>
      </dgm:prSet>
      <dgm:spPr/>
    </dgm:pt>
    <dgm:pt modelId="{4B74C601-702D-B84E-BC66-B26050BA38AE}" type="pres">
      <dgm:prSet presAssocID="{688BCE68-CE32-4923-AEE1-D1ED375D9180}" presName="negativeSpace" presStyleCnt="0"/>
      <dgm:spPr/>
    </dgm:pt>
    <dgm:pt modelId="{55793244-0850-6C4C-86CB-AA0809422279}" type="pres">
      <dgm:prSet presAssocID="{688BCE68-CE32-4923-AEE1-D1ED375D9180}" presName="childText" presStyleLbl="conFgAcc1" presStyleIdx="3" presStyleCnt="6">
        <dgm:presLayoutVars>
          <dgm:bulletEnabled val="1"/>
        </dgm:presLayoutVars>
      </dgm:prSet>
      <dgm:spPr/>
    </dgm:pt>
    <dgm:pt modelId="{7954BF08-6496-5C43-97B5-10568F8C1F49}" type="pres">
      <dgm:prSet presAssocID="{5C94FE7D-C8F1-4933-9791-18970826C9C2}" presName="spaceBetweenRectangles" presStyleCnt="0"/>
      <dgm:spPr/>
    </dgm:pt>
    <dgm:pt modelId="{F1F392D2-B6B3-A842-8B5C-1C12A3B024C8}" type="pres">
      <dgm:prSet presAssocID="{93B0EFB1-65AE-4875-97AD-AE390B748DDC}" presName="parentLin" presStyleCnt="0"/>
      <dgm:spPr/>
    </dgm:pt>
    <dgm:pt modelId="{69B90E48-1907-9448-8936-1984B70729F2}" type="pres">
      <dgm:prSet presAssocID="{93B0EFB1-65AE-4875-97AD-AE390B748DDC}" presName="parentLeftMargin" presStyleLbl="node1" presStyleIdx="3" presStyleCnt="6"/>
      <dgm:spPr/>
    </dgm:pt>
    <dgm:pt modelId="{E28524EE-F5A4-4E4C-817C-B2971965D4C4}" type="pres">
      <dgm:prSet presAssocID="{93B0EFB1-65AE-4875-97AD-AE390B748DDC}" presName="parentText" presStyleLbl="node1" presStyleIdx="4" presStyleCnt="6">
        <dgm:presLayoutVars>
          <dgm:chMax val="0"/>
          <dgm:bulletEnabled val="1"/>
        </dgm:presLayoutVars>
      </dgm:prSet>
      <dgm:spPr/>
    </dgm:pt>
    <dgm:pt modelId="{A0423840-ED60-BE4C-81B9-A5555A411F72}" type="pres">
      <dgm:prSet presAssocID="{93B0EFB1-65AE-4875-97AD-AE390B748DDC}" presName="negativeSpace" presStyleCnt="0"/>
      <dgm:spPr/>
    </dgm:pt>
    <dgm:pt modelId="{88397399-EEC0-5949-B5A1-6B1A339E672D}" type="pres">
      <dgm:prSet presAssocID="{93B0EFB1-65AE-4875-97AD-AE390B748DDC}" presName="childText" presStyleLbl="conFgAcc1" presStyleIdx="4" presStyleCnt="6">
        <dgm:presLayoutVars>
          <dgm:bulletEnabled val="1"/>
        </dgm:presLayoutVars>
      </dgm:prSet>
      <dgm:spPr/>
    </dgm:pt>
    <dgm:pt modelId="{288E4A80-4CAE-0F4F-BA4B-0EFD233095C3}" type="pres">
      <dgm:prSet presAssocID="{3ED17E60-E3F5-439E-994A-76B5C5344195}" presName="spaceBetweenRectangles" presStyleCnt="0"/>
      <dgm:spPr/>
    </dgm:pt>
    <dgm:pt modelId="{6D9493B5-7DCB-A94E-9CB5-38C05B225FB7}" type="pres">
      <dgm:prSet presAssocID="{35DE8FA1-F830-4144-B1E0-E0D9F166CB77}" presName="parentLin" presStyleCnt="0"/>
      <dgm:spPr/>
    </dgm:pt>
    <dgm:pt modelId="{568EEBB7-4889-364C-9CE0-63A1467D2A02}" type="pres">
      <dgm:prSet presAssocID="{35DE8FA1-F830-4144-B1E0-E0D9F166CB77}" presName="parentLeftMargin" presStyleLbl="node1" presStyleIdx="4" presStyleCnt="6"/>
      <dgm:spPr/>
    </dgm:pt>
    <dgm:pt modelId="{D2973FEE-1D44-1F46-A022-24BD86D9A0C3}" type="pres">
      <dgm:prSet presAssocID="{35DE8FA1-F830-4144-B1E0-E0D9F166CB77}" presName="parentText" presStyleLbl="node1" presStyleIdx="5" presStyleCnt="6">
        <dgm:presLayoutVars>
          <dgm:chMax val="0"/>
          <dgm:bulletEnabled val="1"/>
        </dgm:presLayoutVars>
      </dgm:prSet>
      <dgm:spPr/>
    </dgm:pt>
    <dgm:pt modelId="{28DB901F-191D-7D4C-99B0-C8925CC5A8B9}" type="pres">
      <dgm:prSet presAssocID="{35DE8FA1-F830-4144-B1E0-E0D9F166CB77}" presName="negativeSpace" presStyleCnt="0"/>
      <dgm:spPr/>
    </dgm:pt>
    <dgm:pt modelId="{AB80F4AD-5703-604C-85CC-17708FF909FA}" type="pres">
      <dgm:prSet presAssocID="{35DE8FA1-F830-4144-B1E0-E0D9F166CB77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C04C1001-C647-7D49-822C-6E6EAA55F01E}" type="presOf" srcId="{35DE8FA1-F830-4144-B1E0-E0D9F166CB77}" destId="{D2973FEE-1D44-1F46-A022-24BD86D9A0C3}" srcOrd="1" destOrd="0" presId="urn:microsoft.com/office/officeart/2005/8/layout/list1"/>
    <dgm:cxn modelId="{108F280E-17B6-E543-B221-4FFD3487F145}" type="presOf" srcId="{7FCFC91E-13C4-4785-9BCA-02D372181A7F}" destId="{8F418438-74BC-7E4F-A9F6-AB214687D80F}" srcOrd="0" destOrd="0" presId="urn:microsoft.com/office/officeart/2005/8/layout/list1"/>
    <dgm:cxn modelId="{DCE5AA14-C648-A74D-A1BD-1E4E1B7C7744}" type="presOf" srcId="{9DCB16CC-6E96-42DB-AEC0-C6E7FDA7BEA6}" destId="{C4A4F08C-6EC2-CE4D-9A16-2A53C82CD038}" srcOrd="1" destOrd="0" presId="urn:microsoft.com/office/officeart/2005/8/layout/list1"/>
    <dgm:cxn modelId="{34477F29-8293-4A6B-B8EA-DDEF227D412D}" srcId="{30B8F1C2-713F-4819-85E1-588401508B23}" destId="{DB91828F-58F8-461A-BF52-EE68DC054FB4}" srcOrd="2" destOrd="0" parTransId="{95BC21AE-FAB7-4130-ADEB-63167EBB4DEA}" sibTransId="{57CA507D-DC30-4853-B8BB-7A4BB3806972}"/>
    <dgm:cxn modelId="{4DDF1E2C-9664-46C1-A25D-2955A05B03B5}" srcId="{30B8F1C2-713F-4819-85E1-588401508B23}" destId="{35DE8FA1-F830-4144-B1E0-E0D9F166CB77}" srcOrd="5" destOrd="0" parTransId="{2DCEA579-61C1-45D5-93C6-338EB3E056E9}" sibTransId="{E8704A65-7897-4CC1-98E8-BAF47FB262D1}"/>
    <dgm:cxn modelId="{CD45232F-5E23-8B45-A243-7638CE3111D9}" type="presOf" srcId="{DB91828F-58F8-461A-BF52-EE68DC054FB4}" destId="{D24829E8-2B4B-2F44-9A4E-712B05501801}" srcOrd="1" destOrd="0" presId="urn:microsoft.com/office/officeart/2005/8/layout/list1"/>
    <dgm:cxn modelId="{69595E36-CD75-9B40-82F3-06F66967DFD5}" type="presOf" srcId="{23B06095-1A32-4523-A354-71AC0808C829}" destId="{88397399-EEC0-5949-B5A1-6B1A339E672D}" srcOrd="0" destOrd="0" presId="urn:microsoft.com/office/officeart/2005/8/layout/list1"/>
    <dgm:cxn modelId="{71AF4E36-B95A-554F-9071-0BE8EA9DAD96}" type="presOf" srcId="{9DCB16CC-6E96-42DB-AEC0-C6E7FDA7BEA6}" destId="{3F2AD922-13A1-8545-8AE9-C208B4CCAC7F}" srcOrd="0" destOrd="0" presId="urn:microsoft.com/office/officeart/2005/8/layout/list1"/>
    <dgm:cxn modelId="{228C095D-715B-104A-AC53-41F01896802F}" type="presOf" srcId="{30B8F1C2-713F-4819-85E1-588401508B23}" destId="{B1E491DC-FCD5-8344-8F00-07CB29EB26A1}" srcOrd="0" destOrd="0" presId="urn:microsoft.com/office/officeart/2005/8/layout/list1"/>
    <dgm:cxn modelId="{2779D05D-AD82-CF41-B3FA-78EBB6094730}" type="presOf" srcId="{688BCE68-CE32-4923-AEE1-D1ED375D9180}" destId="{1A896581-8A67-2C4E-9B4D-6F53FA2D0EA2}" srcOrd="0" destOrd="0" presId="urn:microsoft.com/office/officeart/2005/8/layout/list1"/>
    <dgm:cxn modelId="{08539064-7AD6-854B-ACC0-1B6CABCF07C9}" type="presOf" srcId="{DB91828F-58F8-461A-BF52-EE68DC054FB4}" destId="{22807D84-94B5-7241-B082-1B4E9C16BE1B}" srcOrd="0" destOrd="0" presId="urn:microsoft.com/office/officeart/2005/8/layout/list1"/>
    <dgm:cxn modelId="{BDFF7C4F-E251-BD49-BE6D-484D7B79639A}" type="presOf" srcId="{93B0EFB1-65AE-4875-97AD-AE390B748DDC}" destId="{69B90E48-1907-9448-8936-1984B70729F2}" srcOrd="0" destOrd="0" presId="urn:microsoft.com/office/officeart/2005/8/layout/list1"/>
    <dgm:cxn modelId="{E3CB0053-3957-C449-B8DA-E6CF4E2FBBF6}" type="presOf" srcId="{93B0EFB1-65AE-4875-97AD-AE390B748DDC}" destId="{E28524EE-F5A4-4E4C-817C-B2971965D4C4}" srcOrd="1" destOrd="0" presId="urn:microsoft.com/office/officeart/2005/8/layout/list1"/>
    <dgm:cxn modelId="{CD111B7F-DF6D-BA4C-A901-C94F24AD2F41}" type="presOf" srcId="{7FCFC91E-13C4-4785-9BCA-02D372181A7F}" destId="{C3BE7C74-C01B-7A44-84B1-E156D5438CD2}" srcOrd="1" destOrd="0" presId="urn:microsoft.com/office/officeart/2005/8/layout/list1"/>
    <dgm:cxn modelId="{58A6A3A0-CBC5-4AED-9062-6217FC35B0EE}" srcId="{93B0EFB1-65AE-4875-97AD-AE390B748DDC}" destId="{23B06095-1A32-4523-A354-71AC0808C829}" srcOrd="0" destOrd="0" parTransId="{D306AE1D-6F25-404E-8987-3CE64DF5C30A}" sibTransId="{38ADCAFD-7F17-4E07-9E6A-0EDE65DBEA2B}"/>
    <dgm:cxn modelId="{9B5C44A4-D0D8-44B0-8965-F9C624314481}" srcId="{30B8F1C2-713F-4819-85E1-588401508B23}" destId="{9DCB16CC-6E96-42DB-AEC0-C6E7FDA7BEA6}" srcOrd="0" destOrd="0" parTransId="{600D8772-4684-48E0-B085-D4FA0991EA0F}" sibTransId="{CAC69139-4D5C-4888-AB43-4930D2C0EE58}"/>
    <dgm:cxn modelId="{0A8666A4-120C-498B-A745-DC80F9077C1D}" srcId="{30B8F1C2-713F-4819-85E1-588401508B23}" destId="{688BCE68-CE32-4923-AEE1-D1ED375D9180}" srcOrd="3" destOrd="0" parTransId="{68B251AA-42AA-4B85-9BEF-7D7DE51318B7}" sibTransId="{5C94FE7D-C8F1-4933-9791-18970826C9C2}"/>
    <dgm:cxn modelId="{C42819AA-82E5-074D-8B6C-73A99FC10BB0}" type="presOf" srcId="{688BCE68-CE32-4923-AEE1-D1ED375D9180}" destId="{C0329830-F239-564A-8164-72F20D4153D4}" srcOrd="1" destOrd="0" presId="urn:microsoft.com/office/officeart/2005/8/layout/list1"/>
    <dgm:cxn modelId="{B76180AC-9D04-4393-9822-3AD1A3C4E036}" srcId="{30B8F1C2-713F-4819-85E1-588401508B23}" destId="{7FCFC91E-13C4-4785-9BCA-02D372181A7F}" srcOrd="1" destOrd="0" parTransId="{8E466D9A-0013-42E7-BC41-1A912A32FB90}" sibTransId="{7C5EAB25-795D-47E1-B960-5C05C907F4C8}"/>
    <dgm:cxn modelId="{92B473BE-5AA6-254C-83D5-37EFA3F56C21}" type="presOf" srcId="{35DE8FA1-F830-4144-B1E0-E0D9F166CB77}" destId="{568EEBB7-4889-364C-9CE0-63A1467D2A02}" srcOrd="0" destOrd="0" presId="urn:microsoft.com/office/officeart/2005/8/layout/list1"/>
    <dgm:cxn modelId="{80DAA6CD-59C8-48EC-B61D-FD19497346A1}" srcId="{30B8F1C2-713F-4819-85E1-588401508B23}" destId="{93B0EFB1-65AE-4875-97AD-AE390B748DDC}" srcOrd="4" destOrd="0" parTransId="{BAD8DBF1-6FB3-4C3D-A3BC-5A514EE90D13}" sibTransId="{3ED17E60-E3F5-439E-994A-76B5C5344195}"/>
    <dgm:cxn modelId="{37F32DC4-703F-2946-942D-F41F8B2B1BC1}" type="presParOf" srcId="{B1E491DC-FCD5-8344-8F00-07CB29EB26A1}" destId="{4A12D77C-0F66-B646-809A-C74E7487DEA4}" srcOrd="0" destOrd="0" presId="urn:microsoft.com/office/officeart/2005/8/layout/list1"/>
    <dgm:cxn modelId="{8E723DBA-2C11-E646-AB53-38F3ECAF2B54}" type="presParOf" srcId="{4A12D77C-0F66-B646-809A-C74E7487DEA4}" destId="{3F2AD922-13A1-8545-8AE9-C208B4CCAC7F}" srcOrd="0" destOrd="0" presId="urn:microsoft.com/office/officeart/2005/8/layout/list1"/>
    <dgm:cxn modelId="{89950234-BAD6-564A-BDBF-5035AA0D7A09}" type="presParOf" srcId="{4A12D77C-0F66-B646-809A-C74E7487DEA4}" destId="{C4A4F08C-6EC2-CE4D-9A16-2A53C82CD038}" srcOrd="1" destOrd="0" presId="urn:microsoft.com/office/officeart/2005/8/layout/list1"/>
    <dgm:cxn modelId="{0E1CD770-2887-484A-8F3A-9B56489B5152}" type="presParOf" srcId="{B1E491DC-FCD5-8344-8F00-07CB29EB26A1}" destId="{626E249D-CEE8-6848-85B1-67A2C1E5E6D9}" srcOrd="1" destOrd="0" presId="urn:microsoft.com/office/officeart/2005/8/layout/list1"/>
    <dgm:cxn modelId="{D27C839C-D3EE-984C-B5CD-8075A15DC84A}" type="presParOf" srcId="{B1E491DC-FCD5-8344-8F00-07CB29EB26A1}" destId="{7398189A-32E3-5942-852C-C7629DE332EE}" srcOrd="2" destOrd="0" presId="urn:microsoft.com/office/officeart/2005/8/layout/list1"/>
    <dgm:cxn modelId="{DE68BC74-A9B0-8244-9E5A-67DDA8E1E803}" type="presParOf" srcId="{B1E491DC-FCD5-8344-8F00-07CB29EB26A1}" destId="{C0171D47-7889-404C-9C9E-77FBE66FD21E}" srcOrd="3" destOrd="0" presId="urn:microsoft.com/office/officeart/2005/8/layout/list1"/>
    <dgm:cxn modelId="{51AB0ABA-8F5D-7742-9217-3E54226B642F}" type="presParOf" srcId="{B1E491DC-FCD5-8344-8F00-07CB29EB26A1}" destId="{861B7784-DD77-5E4B-9A30-3CA9ED1FDBDD}" srcOrd="4" destOrd="0" presId="urn:microsoft.com/office/officeart/2005/8/layout/list1"/>
    <dgm:cxn modelId="{5F67C572-2565-924F-9FA4-97854717277C}" type="presParOf" srcId="{861B7784-DD77-5E4B-9A30-3CA9ED1FDBDD}" destId="{8F418438-74BC-7E4F-A9F6-AB214687D80F}" srcOrd="0" destOrd="0" presId="urn:microsoft.com/office/officeart/2005/8/layout/list1"/>
    <dgm:cxn modelId="{D18E3E4A-F6FB-5649-B7E9-A79AADE8C4F8}" type="presParOf" srcId="{861B7784-DD77-5E4B-9A30-3CA9ED1FDBDD}" destId="{C3BE7C74-C01B-7A44-84B1-E156D5438CD2}" srcOrd="1" destOrd="0" presId="urn:microsoft.com/office/officeart/2005/8/layout/list1"/>
    <dgm:cxn modelId="{CF1D7A58-5B88-AB43-B762-17F1A1BCDFD2}" type="presParOf" srcId="{B1E491DC-FCD5-8344-8F00-07CB29EB26A1}" destId="{AE3C7B7B-3587-2D4B-8078-B56BA2CEE824}" srcOrd="5" destOrd="0" presId="urn:microsoft.com/office/officeart/2005/8/layout/list1"/>
    <dgm:cxn modelId="{A2D53285-134B-4047-9022-5105C7A911CD}" type="presParOf" srcId="{B1E491DC-FCD5-8344-8F00-07CB29EB26A1}" destId="{9A84256C-F2FB-0D46-8F04-B42BB71CAD54}" srcOrd="6" destOrd="0" presId="urn:microsoft.com/office/officeart/2005/8/layout/list1"/>
    <dgm:cxn modelId="{9A9EF442-B1BF-8745-9FC9-69D5B08E71D4}" type="presParOf" srcId="{B1E491DC-FCD5-8344-8F00-07CB29EB26A1}" destId="{4E212906-20F0-D94D-A559-DE224619AD33}" srcOrd="7" destOrd="0" presId="urn:microsoft.com/office/officeart/2005/8/layout/list1"/>
    <dgm:cxn modelId="{3FC7A530-5C4C-394C-9350-1EC36D36F58C}" type="presParOf" srcId="{B1E491DC-FCD5-8344-8F00-07CB29EB26A1}" destId="{F605D0E9-A410-864B-A6BD-8D418495BEAC}" srcOrd="8" destOrd="0" presId="urn:microsoft.com/office/officeart/2005/8/layout/list1"/>
    <dgm:cxn modelId="{155776C5-D4AF-4D4D-93EA-F0A7596A60CB}" type="presParOf" srcId="{F605D0E9-A410-864B-A6BD-8D418495BEAC}" destId="{22807D84-94B5-7241-B082-1B4E9C16BE1B}" srcOrd="0" destOrd="0" presId="urn:microsoft.com/office/officeart/2005/8/layout/list1"/>
    <dgm:cxn modelId="{2D650A74-8604-7142-86C9-BED95E6EE061}" type="presParOf" srcId="{F605D0E9-A410-864B-A6BD-8D418495BEAC}" destId="{D24829E8-2B4B-2F44-9A4E-712B05501801}" srcOrd="1" destOrd="0" presId="urn:microsoft.com/office/officeart/2005/8/layout/list1"/>
    <dgm:cxn modelId="{884BB483-CDAD-6641-860B-664F1A0BEE51}" type="presParOf" srcId="{B1E491DC-FCD5-8344-8F00-07CB29EB26A1}" destId="{8BE6F59F-467C-4C45-8AEE-41477FA264CA}" srcOrd="9" destOrd="0" presId="urn:microsoft.com/office/officeart/2005/8/layout/list1"/>
    <dgm:cxn modelId="{6671F463-62D8-FB4D-83DC-B37B6A804AFD}" type="presParOf" srcId="{B1E491DC-FCD5-8344-8F00-07CB29EB26A1}" destId="{B5D84F40-C277-5245-9270-307317A71FF6}" srcOrd="10" destOrd="0" presId="urn:microsoft.com/office/officeart/2005/8/layout/list1"/>
    <dgm:cxn modelId="{52CE7702-B8CE-B846-A9DB-60BA09B0B207}" type="presParOf" srcId="{B1E491DC-FCD5-8344-8F00-07CB29EB26A1}" destId="{3E93A479-DEFC-464B-A8B1-25214A9F7BBB}" srcOrd="11" destOrd="0" presId="urn:microsoft.com/office/officeart/2005/8/layout/list1"/>
    <dgm:cxn modelId="{461B68AF-E80C-A749-AB7C-16E1FB5824C3}" type="presParOf" srcId="{B1E491DC-FCD5-8344-8F00-07CB29EB26A1}" destId="{2F166A43-8361-2C40-99B5-BE4579A961D7}" srcOrd="12" destOrd="0" presId="urn:microsoft.com/office/officeart/2005/8/layout/list1"/>
    <dgm:cxn modelId="{F6324DD4-8A74-E445-9782-3568C9D6EDEC}" type="presParOf" srcId="{2F166A43-8361-2C40-99B5-BE4579A961D7}" destId="{1A896581-8A67-2C4E-9B4D-6F53FA2D0EA2}" srcOrd="0" destOrd="0" presId="urn:microsoft.com/office/officeart/2005/8/layout/list1"/>
    <dgm:cxn modelId="{1AFE951B-2DB4-7546-91F7-D34309E4724F}" type="presParOf" srcId="{2F166A43-8361-2C40-99B5-BE4579A961D7}" destId="{C0329830-F239-564A-8164-72F20D4153D4}" srcOrd="1" destOrd="0" presId="urn:microsoft.com/office/officeart/2005/8/layout/list1"/>
    <dgm:cxn modelId="{5AAB61A6-24B9-7043-A03B-E561DBD5CB01}" type="presParOf" srcId="{B1E491DC-FCD5-8344-8F00-07CB29EB26A1}" destId="{4B74C601-702D-B84E-BC66-B26050BA38AE}" srcOrd="13" destOrd="0" presId="urn:microsoft.com/office/officeart/2005/8/layout/list1"/>
    <dgm:cxn modelId="{73F47E4C-61E4-B149-B89B-E68E3C688D6D}" type="presParOf" srcId="{B1E491DC-FCD5-8344-8F00-07CB29EB26A1}" destId="{55793244-0850-6C4C-86CB-AA0809422279}" srcOrd="14" destOrd="0" presId="urn:microsoft.com/office/officeart/2005/8/layout/list1"/>
    <dgm:cxn modelId="{40433658-B1ED-4F4F-A186-69AA233E6679}" type="presParOf" srcId="{B1E491DC-FCD5-8344-8F00-07CB29EB26A1}" destId="{7954BF08-6496-5C43-97B5-10568F8C1F49}" srcOrd="15" destOrd="0" presId="urn:microsoft.com/office/officeart/2005/8/layout/list1"/>
    <dgm:cxn modelId="{DA0E59B5-9731-D647-85D2-32C99DB21256}" type="presParOf" srcId="{B1E491DC-FCD5-8344-8F00-07CB29EB26A1}" destId="{F1F392D2-B6B3-A842-8B5C-1C12A3B024C8}" srcOrd="16" destOrd="0" presId="urn:microsoft.com/office/officeart/2005/8/layout/list1"/>
    <dgm:cxn modelId="{93B499E2-6252-FC4E-B285-AF49ECF351C9}" type="presParOf" srcId="{F1F392D2-B6B3-A842-8B5C-1C12A3B024C8}" destId="{69B90E48-1907-9448-8936-1984B70729F2}" srcOrd="0" destOrd="0" presId="urn:microsoft.com/office/officeart/2005/8/layout/list1"/>
    <dgm:cxn modelId="{2FF77F03-A35E-B344-9B2A-D140F998C6F9}" type="presParOf" srcId="{F1F392D2-B6B3-A842-8B5C-1C12A3B024C8}" destId="{E28524EE-F5A4-4E4C-817C-B2971965D4C4}" srcOrd="1" destOrd="0" presId="urn:microsoft.com/office/officeart/2005/8/layout/list1"/>
    <dgm:cxn modelId="{E3095E1B-4BDF-004A-8C4C-62F939BD906C}" type="presParOf" srcId="{B1E491DC-FCD5-8344-8F00-07CB29EB26A1}" destId="{A0423840-ED60-BE4C-81B9-A5555A411F72}" srcOrd="17" destOrd="0" presId="urn:microsoft.com/office/officeart/2005/8/layout/list1"/>
    <dgm:cxn modelId="{E4AAF8F5-5552-E24B-B4C9-C7D587C1FEDC}" type="presParOf" srcId="{B1E491DC-FCD5-8344-8F00-07CB29EB26A1}" destId="{88397399-EEC0-5949-B5A1-6B1A339E672D}" srcOrd="18" destOrd="0" presId="urn:microsoft.com/office/officeart/2005/8/layout/list1"/>
    <dgm:cxn modelId="{4A2CF1B8-ACAF-1146-A06A-4CEAB66CA19C}" type="presParOf" srcId="{B1E491DC-FCD5-8344-8F00-07CB29EB26A1}" destId="{288E4A80-4CAE-0F4F-BA4B-0EFD233095C3}" srcOrd="19" destOrd="0" presId="urn:microsoft.com/office/officeart/2005/8/layout/list1"/>
    <dgm:cxn modelId="{D833342E-A0E9-104F-A9AF-0BDA2F6AF724}" type="presParOf" srcId="{B1E491DC-FCD5-8344-8F00-07CB29EB26A1}" destId="{6D9493B5-7DCB-A94E-9CB5-38C05B225FB7}" srcOrd="20" destOrd="0" presId="urn:microsoft.com/office/officeart/2005/8/layout/list1"/>
    <dgm:cxn modelId="{EF8C46F3-4E8B-D44A-B6DB-0A657AD83E5F}" type="presParOf" srcId="{6D9493B5-7DCB-A94E-9CB5-38C05B225FB7}" destId="{568EEBB7-4889-364C-9CE0-63A1467D2A02}" srcOrd="0" destOrd="0" presId="urn:microsoft.com/office/officeart/2005/8/layout/list1"/>
    <dgm:cxn modelId="{6121EB25-107B-3B4B-AAC5-78F0D4CF7C05}" type="presParOf" srcId="{6D9493B5-7DCB-A94E-9CB5-38C05B225FB7}" destId="{D2973FEE-1D44-1F46-A022-24BD86D9A0C3}" srcOrd="1" destOrd="0" presId="urn:microsoft.com/office/officeart/2005/8/layout/list1"/>
    <dgm:cxn modelId="{995DACD8-03C9-E944-A6CD-E07C181B7352}" type="presParOf" srcId="{B1E491DC-FCD5-8344-8F00-07CB29EB26A1}" destId="{28DB901F-191D-7D4C-99B0-C8925CC5A8B9}" srcOrd="21" destOrd="0" presId="urn:microsoft.com/office/officeart/2005/8/layout/list1"/>
    <dgm:cxn modelId="{2866B683-938B-3947-9278-B8EAFA33102A}" type="presParOf" srcId="{B1E491DC-FCD5-8344-8F00-07CB29EB26A1}" destId="{AB80F4AD-5703-604C-85CC-17708FF909FA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E6C7D5F-70F6-4D04-AA81-CA05B63FCB2E}" type="doc">
      <dgm:prSet loTypeId="urn:microsoft.com/office/officeart/2005/8/layout/process4" loCatId="process" qsTypeId="urn:microsoft.com/office/officeart/2005/8/quickstyle/simple2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0AB1B144-5907-41DB-847F-243D79AC69DE}">
      <dgm:prSet/>
      <dgm:spPr/>
      <dgm:t>
        <a:bodyPr/>
        <a:lstStyle/>
        <a:p>
          <a:r>
            <a:rPr lang="en-US"/>
            <a:t>Dynamic batch throttling lowers </a:t>
          </a:r>
          <a:r>
            <a:rPr lang="en-US" err="1"/>
            <a:t>Vmin</a:t>
          </a:r>
          <a:r>
            <a:rPr lang="en-US"/>
            <a:t> violation risk but </a:t>
          </a:r>
          <a:r>
            <a:rPr lang="en-US" i="1"/>
            <a:t>does not </a:t>
          </a:r>
          <a:r>
            <a:rPr lang="en-US"/>
            <a:t>solve the issue completely.</a:t>
          </a:r>
        </a:p>
      </dgm:t>
    </dgm:pt>
    <dgm:pt modelId="{91088742-B1C1-409D-A5C3-5DC9F3977F6C}" type="parTrans" cxnId="{93CFF64A-DC45-43BF-9E36-BFC167D4F316}">
      <dgm:prSet/>
      <dgm:spPr/>
      <dgm:t>
        <a:bodyPr/>
        <a:lstStyle/>
        <a:p>
          <a:endParaRPr lang="en-US"/>
        </a:p>
      </dgm:t>
    </dgm:pt>
    <dgm:pt modelId="{0405608E-A06F-49AD-8D71-A76F6BBDAD69}" type="sibTrans" cxnId="{93CFF64A-DC45-43BF-9E36-BFC167D4F316}">
      <dgm:prSet/>
      <dgm:spPr/>
      <dgm:t>
        <a:bodyPr/>
        <a:lstStyle/>
        <a:p>
          <a:endParaRPr lang="en-US"/>
        </a:p>
      </dgm:t>
    </dgm:pt>
    <dgm:pt modelId="{A3592418-27A0-40BF-8BDE-6E7097BD1E41}">
      <dgm:prSet custT="1"/>
      <dgm:spPr/>
      <dgm:t>
        <a:bodyPr/>
        <a:lstStyle/>
        <a:p>
          <a:r>
            <a:rPr lang="en-US" sz="1000"/>
            <a:t>Software latency floor: Slew Guard protects against </a:t>
          </a:r>
          <a:r>
            <a:rPr lang="en-US" sz="1000" b="1"/>
            <a:t>macro-level</a:t>
          </a:r>
          <a:r>
            <a:rPr lang="en-US" sz="1000"/>
            <a:t> voltage droops managed at the firmware/software level, whereas the PDN handles the </a:t>
          </a:r>
          <a:r>
            <a:rPr lang="en-US" sz="1000" b="1"/>
            <a:t>micro-level</a:t>
          </a:r>
          <a:r>
            <a:rPr lang="en-US" sz="1000"/>
            <a:t> events</a:t>
          </a:r>
          <a:br>
            <a:rPr lang="en-US" sz="800"/>
          </a:br>
          <a:endParaRPr lang="en-US" sz="800"/>
        </a:p>
      </dgm:t>
    </dgm:pt>
    <dgm:pt modelId="{FE288D9E-9002-4356-A9CC-DEB00E4D5C28}" type="parTrans" cxnId="{9586C708-BCDA-4987-BF3B-9F4246F35F2A}">
      <dgm:prSet/>
      <dgm:spPr/>
      <dgm:t>
        <a:bodyPr/>
        <a:lstStyle/>
        <a:p>
          <a:endParaRPr lang="en-US"/>
        </a:p>
      </dgm:t>
    </dgm:pt>
    <dgm:pt modelId="{9A6E093A-71A9-435E-8B31-80EF9DD03A19}" type="sibTrans" cxnId="{9586C708-BCDA-4987-BF3B-9F4246F35F2A}">
      <dgm:prSet/>
      <dgm:spPr/>
      <dgm:t>
        <a:bodyPr/>
        <a:lstStyle/>
        <a:p>
          <a:endParaRPr lang="en-US"/>
        </a:p>
      </dgm:t>
    </dgm:pt>
    <dgm:pt modelId="{C55CC289-BCAA-45E8-8229-6633B17CAB61}">
      <dgm:prSet custT="1"/>
      <dgm:spPr/>
      <dgm:t>
        <a:bodyPr/>
        <a:lstStyle/>
        <a:p>
          <a:r>
            <a:rPr lang="en-US" sz="1400"/>
            <a:t>Optimized Power Delivery Network (PDN) is necessary to protect device against all possible noise based </a:t>
          </a:r>
          <a:r>
            <a:rPr lang="en-US" sz="1400" err="1"/>
            <a:t>Vmin</a:t>
          </a:r>
          <a:r>
            <a:rPr lang="en-US" sz="1400"/>
            <a:t> violations.</a:t>
          </a:r>
        </a:p>
      </dgm:t>
    </dgm:pt>
    <dgm:pt modelId="{CFDE145F-C466-4DF5-A453-5114AD23CD90}" type="parTrans" cxnId="{D743A9FF-06DE-4608-A717-CDC644DF250B}">
      <dgm:prSet/>
      <dgm:spPr/>
      <dgm:t>
        <a:bodyPr/>
        <a:lstStyle/>
        <a:p>
          <a:endParaRPr lang="en-US"/>
        </a:p>
      </dgm:t>
    </dgm:pt>
    <dgm:pt modelId="{F14C5929-BECD-4539-9A60-09B42F718188}" type="sibTrans" cxnId="{D743A9FF-06DE-4608-A717-CDC644DF250B}">
      <dgm:prSet/>
      <dgm:spPr/>
      <dgm:t>
        <a:bodyPr/>
        <a:lstStyle/>
        <a:p>
          <a:endParaRPr lang="en-US"/>
        </a:p>
      </dgm:t>
    </dgm:pt>
    <dgm:pt modelId="{F36D41F8-8608-486F-A4BC-4D8EE2E341FF}">
      <dgm:prSet/>
      <dgm:spPr/>
      <dgm:t>
        <a:bodyPr/>
        <a:lstStyle/>
        <a:p>
          <a:r>
            <a:rPr lang="en-US"/>
            <a:t>Ideal PDN criteria:</a:t>
          </a:r>
        </a:p>
      </dgm:t>
    </dgm:pt>
    <dgm:pt modelId="{81649C40-F742-4B21-9CAC-C03823669736}" type="parTrans" cxnId="{B730A29F-4C73-4305-A3ED-B8E0FB09B252}">
      <dgm:prSet/>
      <dgm:spPr/>
      <dgm:t>
        <a:bodyPr/>
        <a:lstStyle/>
        <a:p>
          <a:endParaRPr lang="en-US"/>
        </a:p>
      </dgm:t>
    </dgm:pt>
    <dgm:pt modelId="{A0178A77-FBAB-40F2-B41D-38085371B28D}" type="sibTrans" cxnId="{B730A29F-4C73-4305-A3ED-B8E0FB09B252}">
      <dgm:prSet/>
      <dgm:spPr/>
      <dgm:t>
        <a:bodyPr/>
        <a:lstStyle/>
        <a:p>
          <a:endParaRPr lang="en-US"/>
        </a:p>
      </dgm:t>
    </dgm:pt>
    <dgm:pt modelId="{C0F22FCC-CA43-4BAC-8D7C-3906A2F813CC}">
      <dgm:prSet custT="1"/>
      <dgm:spPr/>
      <dgm:t>
        <a:bodyPr/>
        <a:lstStyle/>
        <a:p>
          <a:r>
            <a:rPr lang="en-US" sz="1000"/>
            <a:t>Contains capacitors distributed across Silicon die to mitigate noise in the MHz to GHz domain.</a:t>
          </a:r>
        </a:p>
      </dgm:t>
    </dgm:pt>
    <dgm:pt modelId="{AF0AC6D8-B724-440F-A174-4E2C1EBD6BC3}" type="parTrans" cxnId="{C8FD5A0D-00DB-46D6-8B5C-BA496618A15B}">
      <dgm:prSet/>
      <dgm:spPr/>
      <dgm:t>
        <a:bodyPr/>
        <a:lstStyle/>
        <a:p>
          <a:endParaRPr lang="en-US"/>
        </a:p>
      </dgm:t>
    </dgm:pt>
    <dgm:pt modelId="{5CE24B39-FFD0-4714-B8D8-36271232938D}" type="sibTrans" cxnId="{C8FD5A0D-00DB-46D6-8B5C-BA496618A15B}">
      <dgm:prSet/>
      <dgm:spPr/>
      <dgm:t>
        <a:bodyPr/>
        <a:lstStyle/>
        <a:p>
          <a:endParaRPr lang="en-US"/>
        </a:p>
      </dgm:t>
    </dgm:pt>
    <dgm:pt modelId="{7BAD37C9-EAED-4AA9-ACB7-3CF8374DDD25}">
      <dgm:prSet custT="1"/>
      <dgm:spPr/>
      <dgm:t>
        <a:bodyPr/>
        <a:lstStyle/>
        <a:p>
          <a:r>
            <a:rPr lang="en-US" sz="1000"/>
            <a:t>Maintain low target impedance to prevent resonance-induced voltage ringing.</a:t>
          </a:r>
        </a:p>
      </dgm:t>
    </dgm:pt>
    <dgm:pt modelId="{04F2696E-D946-462E-BEB9-A045C94AAB2C}" type="parTrans" cxnId="{934FD545-DCC5-4E7D-9639-03BBA9EC8D8F}">
      <dgm:prSet/>
      <dgm:spPr/>
      <dgm:t>
        <a:bodyPr/>
        <a:lstStyle/>
        <a:p>
          <a:endParaRPr lang="en-US"/>
        </a:p>
      </dgm:t>
    </dgm:pt>
    <dgm:pt modelId="{C01C842A-5DFE-42C2-9237-D192EC32C7F3}" type="sibTrans" cxnId="{934FD545-DCC5-4E7D-9639-03BBA9EC8D8F}">
      <dgm:prSet/>
      <dgm:spPr/>
      <dgm:t>
        <a:bodyPr/>
        <a:lstStyle/>
        <a:p>
          <a:endParaRPr lang="en-US"/>
        </a:p>
      </dgm:t>
    </dgm:pt>
    <dgm:pt modelId="{85186882-2B9F-4C71-A3A8-8061CDA001FA}">
      <dgm:prSet custT="1"/>
      <dgm:spPr/>
      <dgm:t>
        <a:bodyPr/>
        <a:lstStyle/>
        <a:p>
          <a:r>
            <a:rPr lang="en-US" sz="1000"/>
            <a:t>Improved Voltage Regulators with high control loop bandwidth and multi-phase interleaving.</a:t>
          </a:r>
          <a:br>
            <a:rPr lang="en-US" sz="800"/>
          </a:br>
          <a:endParaRPr lang="en-US" sz="800"/>
        </a:p>
      </dgm:t>
    </dgm:pt>
    <dgm:pt modelId="{D269317D-A34F-4C85-9C07-0B576E5FFA7E}" type="parTrans" cxnId="{B6665AD6-E858-4017-A897-B16844AB531F}">
      <dgm:prSet/>
      <dgm:spPr/>
      <dgm:t>
        <a:bodyPr/>
        <a:lstStyle/>
        <a:p>
          <a:endParaRPr lang="en-US"/>
        </a:p>
      </dgm:t>
    </dgm:pt>
    <dgm:pt modelId="{67272843-0314-4B9A-9429-829742BD6438}" type="sibTrans" cxnId="{B6665AD6-E858-4017-A897-B16844AB531F}">
      <dgm:prSet/>
      <dgm:spPr/>
      <dgm:t>
        <a:bodyPr/>
        <a:lstStyle/>
        <a:p>
          <a:endParaRPr lang="en-US"/>
        </a:p>
      </dgm:t>
    </dgm:pt>
    <dgm:pt modelId="{90F43D42-D0EB-4F90-9DB9-3CE49586281B}">
      <dgm:prSet custT="1"/>
      <dgm:spPr/>
      <dgm:t>
        <a:bodyPr/>
        <a:lstStyle/>
        <a:p>
          <a:r>
            <a:rPr lang="en-US" sz="1600" b="1"/>
            <a:t>Optimized PDN → Reduced Voltage Guard band → Less Aggressive Throttling → Maximum TOPS</a:t>
          </a:r>
          <a:endParaRPr lang="en-US" sz="1600"/>
        </a:p>
      </dgm:t>
    </dgm:pt>
    <dgm:pt modelId="{F7748626-52FB-4279-AE79-6AA76F46A290}" type="parTrans" cxnId="{5FE1082C-BE01-43DD-AF6D-AC9B7B3D0B0D}">
      <dgm:prSet/>
      <dgm:spPr/>
      <dgm:t>
        <a:bodyPr/>
        <a:lstStyle/>
        <a:p>
          <a:endParaRPr lang="en-US"/>
        </a:p>
      </dgm:t>
    </dgm:pt>
    <dgm:pt modelId="{40ECB3C1-BDFF-453C-A8D5-40D9499BC2C2}" type="sibTrans" cxnId="{5FE1082C-BE01-43DD-AF6D-AC9B7B3D0B0D}">
      <dgm:prSet/>
      <dgm:spPr/>
      <dgm:t>
        <a:bodyPr/>
        <a:lstStyle/>
        <a:p>
          <a:endParaRPr lang="en-US"/>
        </a:p>
      </dgm:t>
    </dgm:pt>
    <dgm:pt modelId="{1757A040-6A6D-184B-B648-5AB00D0D5AA5}" type="pres">
      <dgm:prSet presAssocID="{AE6C7D5F-70F6-4D04-AA81-CA05B63FCB2E}" presName="Name0" presStyleCnt="0">
        <dgm:presLayoutVars>
          <dgm:dir/>
          <dgm:animLvl val="lvl"/>
          <dgm:resizeHandles val="exact"/>
        </dgm:presLayoutVars>
      </dgm:prSet>
      <dgm:spPr/>
    </dgm:pt>
    <dgm:pt modelId="{6B621517-ECEC-F24A-996C-95B50666B80C}" type="pres">
      <dgm:prSet presAssocID="{90F43D42-D0EB-4F90-9DB9-3CE49586281B}" presName="boxAndChildren" presStyleCnt="0"/>
      <dgm:spPr/>
    </dgm:pt>
    <dgm:pt modelId="{B30FE106-C975-C14E-AA46-0F010F0EB15B}" type="pres">
      <dgm:prSet presAssocID="{90F43D42-D0EB-4F90-9DB9-3CE49586281B}" presName="parentTextBox" presStyleLbl="node1" presStyleIdx="0" presStyleCnt="4"/>
      <dgm:spPr/>
    </dgm:pt>
    <dgm:pt modelId="{264BE8E7-769F-9440-B4ED-C37BE17C9582}" type="pres">
      <dgm:prSet presAssocID="{A0178A77-FBAB-40F2-B41D-38085371B28D}" presName="sp" presStyleCnt="0"/>
      <dgm:spPr/>
    </dgm:pt>
    <dgm:pt modelId="{688A1E78-EC35-BF4E-89CE-90E58833C7EF}" type="pres">
      <dgm:prSet presAssocID="{F36D41F8-8608-486F-A4BC-4D8EE2E341FF}" presName="arrowAndChildren" presStyleCnt="0"/>
      <dgm:spPr/>
    </dgm:pt>
    <dgm:pt modelId="{5789FC40-DEB2-F141-8F6D-AA678E3F2012}" type="pres">
      <dgm:prSet presAssocID="{F36D41F8-8608-486F-A4BC-4D8EE2E341FF}" presName="parentTextArrow" presStyleLbl="node1" presStyleIdx="0" presStyleCnt="4"/>
      <dgm:spPr/>
    </dgm:pt>
    <dgm:pt modelId="{1C41EB4B-E02E-6B4D-BACD-94064EBE8030}" type="pres">
      <dgm:prSet presAssocID="{F36D41F8-8608-486F-A4BC-4D8EE2E341FF}" presName="arrow" presStyleLbl="node1" presStyleIdx="1" presStyleCnt="4"/>
      <dgm:spPr/>
    </dgm:pt>
    <dgm:pt modelId="{69FEF267-2464-4C4E-8DBE-F6C96759C8F2}" type="pres">
      <dgm:prSet presAssocID="{F36D41F8-8608-486F-A4BC-4D8EE2E341FF}" presName="descendantArrow" presStyleCnt="0"/>
      <dgm:spPr/>
    </dgm:pt>
    <dgm:pt modelId="{653E42CD-1CBF-F34C-B80D-72F6626F18F2}" type="pres">
      <dgm:prSet presAssocID="{C0F22FCC-CA43-4BAC-8D7C-3906A2F813CC}" presName="childTextArrow" presStyleLbl="fgAccFollowNode1" presStyleIdx="0" presStyleCnt="4">
        <dgm:presLayoutVars>
          <dgm:bulletEnabled val="1"/>
        </dgm:presLayoutVars>
      </dgm:prSet>
      <dgm:spPr/>
    </dgm:pt>
    <dgm:pt modelId="{2796BDD9-1750-5D41-AEB5-83C3ED8F78EE}" type="pres">
      <dgm:prSet presAssocID="{7BAD37C9-EAED-4AA9-ACB7-3CF8374DDD25}" presName="childTextArrow" presStyleLbl="fgAccFollowNode1" presStyleIdx="1" presStyleCnt="4">
        <dgm:presLayoutVars>
          <dgm:bulletEnabled val="1"/>
        </dgm:presLayoutVars>
      </dgm:prSet>
      <dgm:spPr/>
    </dgm:pt>
    <dgm:pt modelId="{978F2EB4-2550-9D4B-9540-78058EC89B99}" type="pres">
      <dgm:prSet presAssocID="{85186882-2B9F-4C71-A3A8-8061CDA001FA}" presName="childTextArrow" presStyleLbl="fgAccFollowNode1" presStyleIdx="2" presStyleCnt="4">
        <dgm:presLayoutVars>
          <dgm:bulletEnabled val="1"/>
        </dgm:presLayoutVars>
      </dgm:prSet>
      <dgm:spPr/>
    </dgm:pt>
    <dgm:pt modelId="{D55D9D58-F924-284B-B399-9B77F926917C}" type="pres">
      <dgm:prSet presAssocID="{F14C5929-BECD-4539-9A60-09B42F718188}" presName="sp" presStyleCnt="0"/>
      <dgm:spPr/>
    </dgm:pt>
    <dgm:pt modelId="{AAC61639-A2D4-4545-97F9-CB3DB25EBEEF}" type="pres">
      <dgm:prSet presAssocID="{C55CC289-BCAA-45E8-8229-6633B17CAB61}" presName="arrowAndChildren" presStyleCnt="0"/>
      <dgm:spPr/>
    </dgm:pt>
    <dgm:pt modelId="{EFC8BA02-1D4E-A74D-96FD-C48219D1BBD3}" type="pres">
      <dgm:prSet presAssocID="{C55CC289-BCAA-45E8-8229-6633B17CAB61}" presName="parentTextArrow" presStyleLbl="node1" presStyleIdx="2" presStyleCnt="4"/>
      <dgm:spPr/>
    </dgm:pt>
    <dgm:pt modelId="{084AB525-052C-0C4B-8E7F-8B1725415CB9}" type="pres">
      <dgm:prSet presAssocID="{0405608E-A06F-49AD-8D71-A76F6BBDAD69}" presName="sp" presStyleCnt="0"/>
      <dgm:spPr/>
    </dgm:pt>
    <dgm:pt modelId="{45DF0CE9-0437-AB4D-B335-EFD5CC63F4EB}" type="pres">
      <dgm:prSet presAssocID="{0AB1B144-5907-41DB-847F-243D79AC69DE}" presName="arrowAndChildren" presStyleCnt="0"/>
      <dgm:spPr/>
    </dgm:pt>
    <dgm:pt modelId="{DDFB8E72-9FA0-0545-88C1-D5C89F901782}" type="pres">
      <dgm:prSet presAssocID="{0AB1B144-5907-41DB-847F-243D79AC69DE}" presName="parentTextArrow" presStyleLbl="node1" presStyleIdx="2" presStyleCnt="4"/>
      <dgm:spPr/>
    </dgm:pt>
    <dgm:pt modelId="{83FCCD8E-DDF4-8443-BBDE-148A6AA6E333}" type="pres">
      <dgm:prSet presAssocID="{0AB1B144-5907-41DB-847F-243D79AC69DE}" presName="arrow" presStyleLbl="node1" presStyleIdx="3" presStyleCnt="4"/>
      <dgm:spPr/>
    </dgm:pt>
    <dgm:pt modelId="{94933795-B356-AD41-9B93-426B8405E09C}" type="pres">
      <dgm:prSet presAssocID="{0AB1B144-5907-41DB-847F-243D79AC69DE}" presName="descendantArrow" presStyleCnt="0"/>
      <dgm:spPr/>
    </dgm:pt>
    <dgm:pt modelId="{D2744A2C-DB05-9842-BE3F-70E215B04530}" type="pres">
      <dgm:prSet presAssocID="{A3592418-27A0-40BF-8BDE-6E7097BD1E41}" presName="childTextArrow" presStyleLbl="fgAccFollowNode1" presStyleIdx="3" presStyleCnt="4">
        <dgm:presLayoutVars>
          <dgm:bulletEnabled val="1"/>
        </dgm:presLayoutVars>
      </dgm:prSet>
      <dgm:spPr/>
    </dgm:pt>
  </dgm:ptLst>
  <dgm:cxnLst>
    <dgm:cxn modelId="{704C6202-1215-FD4E-B475-11EB9A647EB0}" type="presOf" srcId="{0AB1B144-5907-41DB-847F-243D79AC69DE}" destId="{83FCCD8E-DDF4-8443-BBDE-148A6AA6E333}" srcOrd="1" destOrd="0" presId="urn:microsoft.com/office/officeart/2005/8/layout/process4"/>
    <dgm:cxn modelId="{9586C708-BCDA-4987-BF3B-9F4246F35F2A}" srcId="{0AB1B144-5907-41DB-847F-243D79AC69DE}" destId="{A3592418-27A0-40BF-8BDE-6E7097BD1E41}" srcOrd="0" destOrd="0" parTransId="{FE288D9E-9002-4356-A9CC-DEB00E4D5C28}" sibTransId="{9A6E093A-71A9-435E-8B31-80EF9DD03A19}"/>
    <dgm:cxn modelId="{7B8A230A-B31C-014A-9B14-CB87E2FDD642}" type="presOf" srcId="{C0F22FCC-CA43-4BAC-8D7C-3906A2F813CC}" destId="{653E42CD-1CBF-F34C-B80D-72F6626F18F2}" srcOrd="0" destOrd="0" presId="urn:microsoft.com/office/officeart/2005/8/layout/process4"/>
    <dgm:cxn modelId="{C8FD5A0D-00DB-46D6-8B5C-BA496618A15B}" srcId="{F36D41F8-8608-486F-A4BC-4D8EE2E341FF}" destId="{C0F22FCC-CA43-4BAC-8D7C-3906A2F813CC}" srcOrd="0" destOrd="0" parTransId="{AF0AC6D8-B724-440F-A174-4E2C1EBD6BC3}" sibTransId="{5CE24B39-FFD0-4714-B8D8-36271232938D}"/>
    <dgm:cxn modelId="{5FE1082C-BE01-43DD-AF6D-AC9B7B3D0B0D}" srcId="{AE6C7D5F-70F6-4D04-AA81-CA05B63FCB2E}" destId="{90F43D42-D0EB-4F90-9DB9-3CE49586281B}" srcOrd="3" destOrd="0" parTransId="{F7748626-52FB-4279-AE79-6AA76F46A290}" sibTransId="{40ECB3C1-BDFF-453C-A8D5-40D9499BC2C2}"/>
    <dgm:cxn modelId="{9444BF3A-47C6-304B-AD15-AE6D922D3CF2}" type="presOf" srcId="{C55CC289-BCAA-45E8-8229-6633B17CAB61}" destId="{EFC8BA02-1D4E-A74D-96FD-C48219D1BBD3}" srcOrd="0" destOrd="0" presId="urn:microsoft.com/office/officeart/2005/8/layout/process4"/>
    <dgm:cxn modelId="{08BC0B5C-2300-B34F-809C-70E02C7AD188}" type="presOf" srcId="{90F43D42-D0EB-4F90-9DB9-3CE49586281B}" destId="{B30FE106-C975-C14E-AA46-0F010F0EB15B}" srcOrd="0" destOrd="0" presId="urn:microsoft.com/office/officeart/2005/8/layout/process4"/>
    <dgm:cxn modelId="{1962465D-8BE8-5945-9088-41ABF0339D3D}" type="presOf" srcId="{85186882-2B9F-4C71-A3A8-8061CDA001FA}" destId="{978F2EB4-2550-9D4B-9540-78058EC89B99}" srcOrd="0" destOrd="0" presId="urn:microsoft.com/office/officeart/2005/8/layout/process4"/>
    <dgm:cxn modelId="{5E513844-A119-6548-9301-43B87BFEAEB7}" type="presOf" srcId="{A3592418-27A0-40BF-8BDE-6E7097BD1E41}" destId="{D2744A2C-DB05-9842-BE3F-70E215B04530}" srcOrd="0" destOrd="0" presId="urn:microsoft.com/office/officeart/2005/8/layout/process4"/>
    <dgm:cxn modelId="{C0952745-EF77-AD47-87E6-F6ACE583F926}" type="presOf" srcId="{AE6C7D5F-70F6-4D04-AA81-CA05B63FCB2E}" destId="{1757A040-6A6D-184B-B648-5AB00D0D5AA5}" srcOrd="0" destOrd="0" presId="urn:microsoft.com/office/officeart/2005/8/layout/process4"/>
    <dgm:cxn modelId="{934FD545-DCC5-4E7D-9639-03BBA9EC8D8F}" srcId="{F36D41F8-8608-486F-A4BC-4D8EE2E341FF}" destId="{7BAD37C9-EAED-4AA9-ACB7-3CF8374DDD25}" srcOrd="1" destOrd="0" parTransId="{04F2696E-D946-462E-BEB9-A045C94AAB2C}" sibTransId="{C01C842A-5DFE-42C2-9237-D192EC32C7F3}"/>
    <dgm:cxn modelId="{EFE7DC45-BF48-3140-B614-1BF41B00A5EF}" type="presOf" srcId="{F36D41F8-8608-486F-A4BC-4D8EE2E341FF}" destId="{1C41EB4B-E02E-6B4D-BACD-94064EBE8030}" srcOrd="1" destOrd="0" presId="urn:microsoft.com/office/officeart/2005/8/layout/process4"/>
    <dgm:cxn modelId="{93CFF64A-DC45-43BF-9E36-BFC167D4F316}" srcId="{AE6C7D5F-70F6-4D04-AA81-CA05B63FCB2E}" destId="{0AB1B144-5907-41DB-847F-243D79AC69DE}" srcOrd="0" destOrd="0" parTransId="{91088742-B1C1-409D-A5C3-5DC9F3977F6C}" sibTransId="{0405608E-A06F-49AD-8D71-A76F6BBDAD69}"/>
    <dgm:cxn modelId="{8BC4388E-C590-724F-89D9-5FCF0308F155}" type="presOf" srcId="{F36D41F8-8608-486F-A4BC-4D8EE2E341FF}" destId="{5789FC40-DEB2-F141-8F6D-AA678E3F2012}" srcOrd="0" destOrd="0" presId="urn:microsoft.com/office/officeart/2005/8/layout/process4"/>
    <dgm:cxn modelId="{B730A29F-4C73-4305-A3ED-B8E0FB09B252}" srcId="{AE6C7D5F-70F6-4D04-AA81-CA05B63FCB2E}" destId="{F36D41F8-8608-486F-A4BC-4D8EE2E341FF}" srcOrd="2" destOrd="0" parTransId="{81649C40-F742-4B21-9CAC-C03823669736}" sibTransId="{A0178A77-FBAB-40F2-B41D-38085371B28D}"/>
    <dgm:cxn modelId="{B6665AD6-E858-4017-A897-B16844AB531F}" srcId="{F36D41F8-8608-486F-A4BC-4D8EE2E341FF}" destId="{85186882-2B9F-4C71-A3A8-8061CDA001FA}" srcOrd="2" destOrd="0" parTransId="{D269317D-A34F-4C85-9C07-0B576E5FFA7E}" sibTransId="{67272843-0314-4B9A-9429-829742BD6438}"/>
    <dgm:cxn modelId="{F3F91CE6-C268-D94B-BE08-8B4168869776}" type="presOf" srcId="{0AB1B144-5907-41DB-847F-243D79AC69DE}" destId="{DDFB8E72-9FA0-0545-88C1-D5C89F901782}" srcOrd="0" destOrd="0" presId="urn:microsoft.com/office/officeart/2005/8/layout/process4"/>
    <dgm:cxn modelId="{21A156F7-F80F-A443-A6AB-924B6858D7AA}" type="presOf" srcId="{7BAD37C9-EAED-4AA9-ACB7-3CF8374DDD25}" destId="{2796BDD9-1750-5D41-AEB5-83C3ED8F78EE}" srcOrd="0" destOrd="0" presId="urn:microsoft.com/office/officeart/2005/8/layout/process4"/>
    <dgm:cxn modelId="{D743A9FF-06DE-4608-A717-CDC644DF250B}" srcId="{AE6C7D5F-70F6-4D04-AA81-CA05B63FCB2E}" destId="{C55CC289-BCAA-45E8-8229-6633B17CAB61}" srcOrd="1" destOrd="0" parTransId="{CFDE145F-C466-4DF5-A453-5114AD23CD90}" sibTransId="{F14C5929-BECD-4539-9A60-09B42F718188}"/>
    <dgm:cxn modelId="{6DDA471D-AC85-9846-A71E-91530E7CC972}" type="presParOf" srcId="{1757A040-6A6D-184B-B648-5AB00D0D5AA5}" destId="{6B621517-ECEC-F24A-996C-95B50666B80C}" srcOrd="0" destOrd="0" presId="urn:microsoft.com/office/officeart/2005/8/layout/process4"/>
    <dgm:cxn modelId="{3319AA7F-0151-0E4D-AAD7-882484BB65F0}" type="presParOf" srcId="{6B621517-ECEC-F24A-996C-95B50666B80C}" destId="{B30FE106-C975-C14E-AA46-0F010F0EB15B}" srcOrd="0" destOrd="0" presId="urn:microsoft.com/office/officeart/2005/8/layout/process4"/>
    <dgm:cxn modelId="{C8F83853-13A8-D940-B030-AB5AB449D186}" type="presParOf" srcId="{1757A040-6A6D-184B-B648-5AB00D0D5AA5}" destId="{264BE8E7-769F-9440-B4ED-C37BE17C9582}" srcOrd="1" destOrd="0" presId="urn:microsoft.com/office/officeart/2005/8/layout/process4"/>
    <dgm:cxn modelId="{BCBF4AA6-6522-C142-9E11-4D0196AEDBEC}" type="presParOf" srcId="{1757A040-6A6D-184B-B648-5AB00D0D5AA5}" destId="{688A1E78-EC35-BF4E-89CE-90E58833C7EF}" srcOrd="2" destOrd="0" presId="urn:microsoft.com/office/officeart/2005/8/layout/process4"/>
    <dgm:cxn modelId="{B1D1526A-47F5-364F-883E-12504AD6DB12}" type="presParOf" srcId="{688A1E78-EC35-BF4E-89CE-90E58833C7EF}" destId="{5789FC40-DEB2-F141-8F6D-AA678E3F2012}" srcOrd="0" destOrd="0" presId="urn:microsoft.com/office/officeart/2005/8/layout/process4"/>
    <dgm:cxn modelId="{2FE71FE2-F3FF-424A-AE81-AB3FCB472B63}" type="presParOf" srcId="{688A1E78-EC35-BF4E-89CE-90E58833C7EF}" destId="{1C41EB4B-E02E-6B4D-BACD-94064EBE8030}" srcOrd="1" destOrd="0" presId="urn:microsoft.com/office/officeart/2005/8/layout/process4"/>
    <dgm:cxn modelId="{5D6FC5D0-87C7-774E-95F4-CB6DFC001611}" type="presParOf" srcId="{688A1E78-EC35-BF4E-89CE-90E58833C7EF}" destId="{69FEF267-2464-4C4E-8DBE-F6C96759C8F2}" srcOrd="2" destOrd="0" presId="urn:microsoft.com/office/officeart/2005/8/layout/process4"/>
    <dgm:cxn modelId="{DBF78C33-073E-8244-9ACD-C5EEE04C2013}" type="presParOf" srcId="{69FEF267-2464-4C4E-8DBE-F6C96759C8F2}" destId="{653E42CD-1CBF-F34C-B80D-72F6626F18F2}" srcOrd="0" destOrd="0" presId="urn:microsoft.com/office/officeart/2005/8/layout/process4"/>
    <dgm:cxn modelId="{84EA04A8-B03C-764B-81EE-F19605ACDD25}" type="presParOf" srcId="{69FEF267-2464-4C4E-8DBE-F6C96759C8F2}" destId="{2796BDD9-1750-5D41-AEB5-83C3ED8F78EE}" srcOrd="1" destOrd="0" presId="urn:microsoft.com/office/officeart/2005/8/layout/process4"/>
    <dgm:cxn modelId="{913EE887-DE03-9A4C-A26B-794622C0917B}" type="presParOf" srcId="{69FEF267-2464-4C4E-8DBE-F6C96759C8F2}" destId="{978F2EB4-2550-9D4B-9540-78058EC89B99}" srcOrd="2" destOrd="0" presId="urn:microsoft.com/office/officeart/2005/8/layout/process4"/>
    <dgm:cxn modelId="{09E690E0-C670-4B40-801A-A2B5EB553FAB}" type="presParOf" srcId="{1757A040-6A6D-184B-B648-5AB00D0D5AA5}" destId="{D55D9D58-F924-284B-B399-9B77F926917C}" srcOrd="3" destOrd="0" presId="urn:microsoft.com/office/officeart/2005/8/layout/process4"/>
    <dgm:cxn modelId="{09DD5837-880C-8A42-AE62-014B2F996015}" type="presParOf" srcId="{1757A040-6A6D-184B-B648-5AB00D0D5AA5}" destId="{AAC61639-A2D4-4545-97F9-CB3DB25EBEEF}" srcOrd="4" destOrd="0" presId="urn:microsoft.com/office/officeart/2005/8/layout/process4"/>
    <dgm:cxn modelId="{EB97F057-0FFB-1241-AB87-E78C818E9EA5}" type="presParOf" srcId="{AAC61639-A2D4-4545-97F9-CB3DB25EBEEF}" destId="{EFC8BA02-1D4E-A74D-96FD-C48219D1BBD3}" srcOrd="0" destOrd="0" presId="urn:microsoft.com/office/officeart/2005/8/layout/process4"/>
    <dgm:cxn modelId="{293314D5-44C0-C64F-A911-781EF240EB8D}" type="presParOf" srcId="{1757A040-6A6D-184B-B648-5AB00D0D5AA5}" destId="{084AB525-052C-0C4B-8E7F-8B1725415CB9}" srcOrd="5" destOrd="0" presId="urn:microsoft.com/office/officeart/2005/8/layout/process4"/>
    <dgm:cxn modelId="{8F29F42C-AE1A-1D4A-BC63-4A1F3D7C090D}" type="presParOf" srcId="{1757A040-6A6D-184B-B648-5AB00D0D5AA5}" destId="{45DF0CE9-0437-AB4D-B335-EFD5CC63F4EB}" srcOrd="6" destOrd="0" presId="urn:microsoft.com/office/officeart/2005/8/layout/process4"/>
    <dgm:cxn modelId="{8BF1EC98-90C6-1640-ADEA-E56A8A16D782}" type="presParOf" srcId="{45DF0CE9-0437-AB4D-B335-EFD5CC63F4EB}" destId="{DDFB8E72-9FA0-0545-88C1-D5C89F901782}" srcOrd="0" destOrd="0" presId="urn:microsoft.com/office/officeart/2005/8/layout/process4"/>
    <dgm:cxn modelId="{FA780AFD-7BFD-B647-88BD-E4E2771ACA48}" type="presParOf" srcId="{45DF0CE9-0437-AB4D-B335-EFD5CC63F4EB}" destId="{83FCCD8E-DDF4-8443-BBDE-148A6AA6E333}" srcOrd="1" destOrd="0" presId="urn:microsoft.com/office/officeart/2005/8/layout/process4"/>
    <dgm:cxn modelId="{74EF3EB6-66DF-1749-B506-4CF5B7C2F4C0}" type="presParOf" srcId="{45DF0CE9-0437-AB4D-B335-EFD5CC63F4EB}" destId="{94933795-B356-AD41-9B93-426B8405E09C}" srcOrd="2" destOrd="0" presId="urn:microsoft.com/office/officeart/2005/8/layout/process4"/>
    <dgm:cxn modelId="{46F79F86-4A4A-2E4C-8D90-B76A9658C53E}" type="presParOf" srcId="{94933795-B356-AD41-9B93-426B8405E09C}" destId="{D2744A2C-DB05-9842-BE3F-70E215B04530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98189A-32E3-5942-852C-C7629DE332EE}">
      <dsp:nvSpPr>
        <dsp:cNvPr id="0" name=""/>
        <dsp:cNvSpPr/>
      </dsp:nvSpPr>
      <dsp:spPr>
        <a:xfrm>
          <a:off x="0" y="296143"/>
          <a:ext cx="10693446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4A4F08C-6EC2-CE4D-9A16-2A53C82CD038}">
      <dsp:nvSpPr>
        <dsp:cNvPr id="0" name=""/>
        <dsp:cNvSpPr/>
      </dsp:nvSpPr>
      <dsp:spPr>
        <a:xfrm>
          <a:off x="534672" y="59983"/>
          <a:ext cx="7485412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2931" tIns="0" rIns="28293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Problem Statement</a:t>
          </a:r>
        </a:p>
      </dsp:txBody>
      <dsp:txXfrm>
        <a:off x="557729" y="83040"/>
        <a:ext cx="7439298" cy="426206"/>
      </dsp:txXfrm>
    </dsp:sp>
    <dsp:sp modelId="{9A84256C-F2FB-0D46-8F04-B42BB71CAD54}">
      <dsp:nvSpPr>
        <dsp:cNvPr id="0" name=""/>
        <dsp:cNvSpPr/>
      </dsp:nvSpPr>
      <dsp:spPr>
        <a:xfrm>
          <a:off x="0" y="1021903"/>
          <a:ext cx="10693446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3BE7C74-C01B-7A44-84B1-E156D5438CD2}">
      <dsp:nvSpPr>
        <dsp:cNvPr id="0" name=""/>
        <dsp:cNvSpPr/>
      </dsp:nvSpPr>
      <dsp:spPr>
        <a:xfrm>
          <a:off x="534672" y="785743"/>
          <a:ext cx="7485412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2931" tIns="0" rIns="28293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Slew Guard Architecture</a:t>
          </a:r>
        </a:p>
      </dsp:txBody>
      <dsp:txXfrm>
        <a:off x="557729" y="808800"/>
        <a:ext cx="7439298" cy="426206"/>
      </dsp:txXfrm>
    </dsp:sp>
    <dsp:sp modelId="{B5D84F40-C277-5245-9270-307317A71FF6}">
      <dsp:nvSpPr>
        <dsp:cNvPr id="0" name=""/>
        <dsp:cNvSpPr/>
      </dsp:nvSpPr>
      <dsp:spPr>
        <a:xfrm>
          <a:off x="0" y="1747663"/>
          <a:ext cx="10693446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4829E8-2B4B-2F44-9A4E-712B05501801}">
      <dsp:nvSpPr>
        <dsp:cNvPr id="0" name=""/>
        <dsp:cNvSpPr/>
      </dsp:nvSpPr>
      <dsp:spPr>
        <a:xfrm>
          <a:off x="534672" y="1511503"/>
          <a:ext cx="7485412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2931" tIns="0" rIns="28293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Controller Operation</a:t>
          </a:r>
        </a:p>
      </dsp:txBody>
      <dsp:txXfrm>
        <a:off x="557729" y="1534560"/>
        <a:ext cx="7439298" cy="426206"/>
      </dsp:txXfrm>
    </dsp:sp>
    <dsp:sp modelId="{55793244-0850-6C4C-86CB-AA0809422279}">
      <dsp:nvSpPr>
        <dsp:cNvPr id="0" name=""/>
        <dsp:cNvSpPr/>
      </dsp:nvSpPr>
      <dsp:spPr>
        <a:xfrm>
          <a:off x="0" y="2473423"/>
          <a:ext cx="10693446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329830-F239-564A-8164-72F20D4153D4}">
      <dsp:nvSpPr>
        <dsp:cNvPr id="0" name=""/>
        <dsp:cNvSpPr/>
      </dsp:nvSpPr>
      <dsp:spPr>
        <a:xfrm>
          <a:off x="534672" y="2237263"/>
          <a:ext cx="7485412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2931" tIns="0" rIns="28293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Workload Specifications</a:t>
          </a:r>
        </a:p>
      </dsp:txBody>
      <dsp:txXfrm>
        <a:off x="557729" y="2260320"/>
        <a:ext cx="7439298" cy="426206"/>
      </dsp:txXfrm>
    </dsp:sp>
    <dsp:sp modelId="{88397399-EEC0-5949-B5A1-6B1A339E672D}">
      <dsp:nvSpPr>
        <dsp:cNvPr id="0" name=""/>
        <dsp:cNvSpPr/>
      </dsp:nvSpPr>
      <dsp:spPr>
        <a:xfrm>
          <a:off x="0" y="3199184"/>
          <a:ext cx="10693446" cy="680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29930" tIns="333248" rIns="829930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600" kern="1200"/>
            <a:t>Sensitivity to PDN specs</a:t>
          </a:r>
        </a:p>
      </dsp:txBody>
      <dsp:txXfrm>
        <a:off x="0" y="3199184"/>
        <a:ext cx="10693446" cy="680400"/>
      </dsp:txXfrm>
    </dsp:sp>
    <dsp:sp modelId="{E28524EE-F5A4-4E4C-817C-B2971965D4C4}">
      <dsp:nvSpPr>
        <dsp:cNvPr id="0" name=""/>
        <dsp:cNvSpPr/>
      </dsp:nvSpPr>
      <dsp:spPr>
        <a:xfrm>
          <a:off x="534672" y="2963024"/>
          <a:ext cx="7485412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2931" tIns="0" rIns="28293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Workload Performance Results</a:t>
          </a:r>
        </a:p>
      </dsp:txBody>
      <dsp:txXfrm>
        <a:off x="557729" y="2986081"/>
        <a:ext cx="7439298" cy="426206"/>
      </dsp:txXfrm>
    </dsp:sp>
    <dsp:sp modelId="{AB80F4AD-5703-604C-85CC-17708FF909FA}">
      <dsp:nvSpPr>
        <dsp:cNvPr id="0" name=""/>
        <dsp:cNvSpPr/>
      </dsp:nvSpPr>
      <dsp:spPr>
        <a:xfrm>
          <a:off x="0" y="4202144"/>
          <a:ext cx="10693446" cy="403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2973FEE-1D44-1F46-A022-24BD86D9A0C3}">
      <dsp:nvSpPr>
        <dsp:cNvPr id="0" name=""/>
        <dsp:cNvSpPr/>
      </dsp:nvSpPr>
      <dsp:spPr>
        <a:xfrm>
          <a:off x="534672" y="3965984"/>
          <a:ext cx="7485412" cy="472320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282931" tIns="0" rIns="282931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Conclusion</a:t>
          </a:r>
        </a:p>
      </dsp:txBody>
      <dsp:txXfrm>
        <a:off x="557729" y="3989041"/>
        <a:ext cx="7439298" cy="42620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0FE106-C975-C14E-AA46-0F010F0EB15B}">
      <dsp:nvSpPr>
        <dsp:cNvPr id="0" name=""/>
        <dsp:cNvSpPr/>
      </dsp:nvSpPr>
      <dsp:spPr>
        <a:xfrm>
          <a:off x="0" y="3826579"/>
          <a:ext cx="10693446" cy="83716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Optimized PDN → Reduced Voltage Guard band → Less Aggressive Throttling → Maximum TOPS</a:t>
          </a:r>
          <a:endParaRPr lang="en-US" sz="1600" kern="1200"/>
        </a:p>
      </dsp:txBody>
      <dsp:txXfrm>
        <a:off x="0" y="3826579"/>
        <a:ext cx="10693446" cy="837162"/>
      </dsp:txXfrm>
    </dsp:sp>
    <dsp:sp modelId="{1C41EB4B-E02E-6B4D-BACD-94064EBE8030}">
      <dsp:nvSpPr>
        <dsp:cNvPr id="0" name=""/>
        <dsp:cNvSpPr/>
      </dsp:nvSpPr>
      <dsp:spPr>
        <a:xfrm rot="10800000">
          <a:off x="0" y="2551581"/>
          <a:ext cx="10693446" cy="1287555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Ideal PDN criteria:</a:t>
          </a:r>
        </a:p>
      </dsp:txBody>
      <dsp:txXfrm rot="-10800000">
        <a:off x="0" y="2551581"/>
        <a:ext cx="10693446" cy="451931"/>
      </dsp:txXfrm>
    </dsp:sp>
    <dsp:sp modelId="{653E42CD-1CBF-F34C-B80D-72F6626F18F2}">
      <dsp:nvSpPr>
        <dsp:cNvPr id="0" name=""/>
        <dsp:cNvSpPr/>
      </dsp:nvSpPr>
      <dsp:spPr>
        <a:xfrm>
          <a:off x="5221" y="3003513"/>
          <a:ext cx="3561001" cy="38497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Contains capacitors distributed across Silicon die to mitigate noise in the MHz to GHz domain.</a:t>
          </a:r>
        </a:p>
      </dsp:txBody>
      <dsp:txXfrm>
        <a:off x="5221" y="3003513"/>
        <a:ext cx="3561001" cy="384979"/>
      </dsp:txXfrm>
    </dsp:sp>
    <dsp:sp modelId="{2796BDD9-1750-5D41-AEB5-83C3ED8F78EE}">
      <dsp:nvSpPr>
        <dsp:cNvPr id="0" name=""/>
        <dsp:cNvSpPr/>
      </dsp:nvSpPr>
      <dsp:spPr>
        <a:xfrm>
          <a:off x="3566222" y="3003513"/>
          <a:ext cx="3561001" cy="38497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Maintain low target impedance to prevent resonance-induced voltage ringing.</a:t>
          </a:r>
        </a:p>
      </dsp:txBody>
      <dsp:txXfrm>
        <a:off x="3566222" y="3003513"/>
        <a:ext cx="3561001" cy="384979"/>
      </dsp:txXfrm>
    </dsp:sp>
    <dsp:sp modelId="{978F2EB4-2550-9D4B-9540-78058EC89B99}">
      <dsp:nvSpPr>
        <dsp:cNvPr id="0" name=""/>
        <dsp:cNvSpPr/>
      </dsp:nvSpPr>
      <dsp:spPr>
        <a:xfrm>
          <a:off x="7127223" y="3003513"/>
          <a:ext cx="3561001" cy="38497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Improved Voltage Regulators with high control loop bandwidth and multi-phase interleaving.</a:t>
          </a:r>
          <a:br>
            <a:rPr lang="en-US" sz="800" kern="1200"/>
          </a:br>
          <a:endParaRPr lang="en-US" sz="800" kern="1200"/>
        </a:p>
      </dsp:txBody>
      <dsp:txXfrm>
        <a:off x="7127223" y="3003513"/>
        <a:ext cx="3561001" cy="384979"/>
      </dsp:txXfrm>
    </dsp:sp>
    <dsp:sp modelId="{EFC8BA02-1D4E-A74D-96FD-C48219D1BBD3}">
      <dsp:nvSpPr>
        <dsp:cNvPr id="0" name=""/>
        <dsp:cNvSpPr/>
      </dsp:nvSpPr>
      <dsp:spPr>
        <a:xfrm rot="10800000">
          <a:off x="0" y="1276583"/>
          <a:ext cx="10693446" cy="1287555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99568" tIns="99568" rIns="99568" bIns="99568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Optimized Power Delivery Network (PDN) is necessary to protect device against all possible noise based </a:t>
          </a:r>
          <a:r>
            <a:rPr lang="en-US" sz="1400" kern="1200" err="1"/>
            <a:t>Vmin</a:t>
          </a:r>
          <a:r>
            <a:rPr lang="en-US" sz="1400" kern="1200"/>
            <a:t> violations.</a:t>
          </a:r>
        </a:p>
      </dsp:txBody>
      <dsp:txXfrm rot="10800000">
        <a:off x="0" y="1276583"/>
        <a:ext cx="10693446" cy="836615"/>
      </dsp:txXfrm>
    </dsp:sp>
    <dsp:sp modelId="{83FCCD8E-DDF4-8443-BBDE-148A6AA6E333}">
      <dsp:nvSpPr>
        <dsp:cNvPr id="0" name=""/>
        <dsp:cNvSpPr/>
      </dsp:nvSpPr>
      <dsp:spPr>
        <a:xfrm rot="10800000">
          <a:off x="0" y="1586"/>
          <a:ext cx="10693446" cy="1287555"/>
        </a:xfrm>
        <a:prstGeom prst="upArrowCallou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3792" tIns="113792" rIns="113792" bIns="113792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Dynamic batch throttling lowers </a:t>
          </a:r>
          <a:r>
            <a:rPr lang="en-US" sz="1600" kern="1200" err="1"/>
            <a:t>Vmin</a:t>
          </a:r>
          <a:r>
            <a:rPr lang="en-US" sz="1600" kern="1200"/>
            <a:t> violation risk but </a:t>
          </a:r>
          <a:r>
            <a:rPr lang="en-US" sz="1600" i="1" kern="1200"/>
            <a:t>does not </a:t>
          </a:r>
          <a:r>
            <a:rPr lang="en-US" sz="1600" kern="1200"/>
            <a:t>solve the issue completely.</a:t>
          </a:r>
        </a:p>
      </dsp:txBody>
      <dsp:txXfrm rot="-10800000">
        <a:off x="0" y="1586"/>
        <a:ext cx="10693446" cy="451931"/>
      </dsp:txXfrm>
    </dsp:sp>
    <dsp:sp modelId="{D2744A2C-DB05-9842-BE3F-70E215B04530}">
      <dsp:nvSpPr>
        <dsp:cNvPr id="0" name=""/>
        <dsp:cNvSpPr/>
      </dsp:nvSpPr>
      <dsp:spPr>
        <a:xfrm>
          <a:off x="0" y="453517"/>
          <a:ext cx="10693446" cy="384979"/>
        </a:xfrm>
        <a:prstGeom prst="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1120" tIns="12700" rIns="71120" bIns="12700" numCol="1" spcCol="1270" anchor="ctr" anchorCtr="0">
          <a:noAutofit/>
        </a:bodyPr>
        <a:lstStyle/>
        <a:p>
          <a:pPr marL="0" lvl="0" indent="0" algn="ctr" defTabSz="444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000" kern="1200"/>
            <a:t>Software latency floor: Slew Guard protects against </a:t>
          </a:r>
          <a:r>
            <a:rPr lang="en-US" sz="1000" b="1" kern="1200"/>
            <a:t>macro-level</a:t>
          </a:r>
          <a:r>
            <a:rPr lang="en-US" sz="1000" kern="1200"/>
            <a:t> voltage droops managed at the firmware/software level, whereas the PDN handles the </a:t>
          </a:r>
          <a:r>
            <a:rPr lang="en-US" sz="1000" b="1" kern="1200"/>
            <a:t>micro-level</a:t>
          </a:r>
          <a:r>
            <a:rPr lang="en-US" sz="1000" kern="1200"/>
            <a:t> events</a:t>
          </a:r>
          <a:br>
            <a:rPr lang="en-US" sz="800" kern="1200"/>
          </a:br>
          <a:endParaRPr lang="en-US" sz="800" kern="1200"/>
        </a:p>
      </dsp:txBody>
      <dsp:txXfrm>
        <a:off x="0" y="453517"/>
        <a:ext cx="10693446" cy="38497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8B5547-373D-384C-BF1E-6D5F1362C97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E6BF63-EC22-B743-A073-92B72E3956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961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Our goal is to mitigate GPU droop so there is not a </a:t>
            </a:r>
            <a:r>
              <a:rPr lang="en-US" err="1">
                <a:latin typeface="Calibri"/>
                <a:ea typeface="Calibri"/>
                <a:cs typeface="Calibri"/>
              </a:rPr>
              <a:t>vmin</a:t>
            </a:r>
            <a:r>
              <a:rPr lang="en-US">
                <a:latin typeface="Calibri"/>
                <a:ea typeface="Calibri"/>
                <a:cs typeface="Calibri"/>
              </a:rPr>
              <a:t> violation. Traditionally this is done by either increasing operating voltage at the same frequency (which uses more power), or by reducing frequency to reduce transistor switch time so a lower VDD is required for safe operation. We solve this by measuring droop and react by adjusting batch size so the </a:t>
            </a:r>
            <a:r>
              <a:rPr lang="en-US" err="1">
                <a:latin typeface="Calibri"/>
                <a:ea typeface="Calibri"/>
                <a:cs typeface="Calibri"/>
              </a:rPr>
              <a:t>gpu</a:t>
            </a:r>
            <a:r>
              <a:rPr lang="en-US">
                <a:latin typeface="Calibri"/>
                <a:ea typeface="Calibri"/>
                <a:cs typeface="Calibri"/>
              </a:rPr>
              <a:t> draws less current. Reducing the current will reduce both components of </a:t>
            </a:r>
            <a:r>
              <a:rPr lang="en-US" err="1">
                <a:latin typeface="Calibri"/>
                <a:ea typeface="Calibri"/>
                <a:cs typeface="Calibri"/>
              </a:rPr>
              <a:t>V_droop</a:t>
            </a:r>
            <a:r>
              <a:rPr lang="en-US">
                <a:latin typeface="Calibri"/>
                <a:ea typeface="Calibri"/>
                <a:cs typeface="Calibri"/>
              </a:rPr>
              <a:t>, </a:t>
            </a:r>
            <a:r>
              <a:rPr lang="en-US" err="1">
                <a:latin typeface="Calibri"/>
                <a:ea typeface="Calibri"/>
                <a:cs typeface="Calibri"/>
              </a:rPr>
              <a:t>V_dc</a:t>
            </a:r>
            <a:r>
              <a:rPr lang="en-US">
                <a:latin typeface="Calibri"/>
                <a:ea typeface="Calibri"/>
                <a:cs typeface="Calibri"/>
              </a:rPr>
              <a:t> and </a:t>
            </a:r>
            <a:r>
              <a:rPr lang="en-US" err="1">
                <a:latin typeface="Calibri"/>
                <a:ea typeface="Calibri"/>
                <a:cs typeface="Calibri"/>
              </a:rPr>
              <a:t>V_ac</a:t>
            </a:r>
            <a:r>
              <a:rPr lang="en-US">
                <a:latin typeface="Calibri"/>
                <a:ea typeface="Calibri"/>
                <a:cs typeface="Calibri"/>
              </a:rPr>
              <a:t>. Our PDN (power delivery network) is modelled by a RLC circuit as shown on screen, which is the assumption we used when calculating droop during operation.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6BF63-EC22-B743-A073-92B72E39562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9812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latin typeface="Calibri"/>
                <a:ea typeface="Calibri"/>
                <a:cs typeface="Calibri"/>
              </a:rPr>
              <a:t>As voltage grows past </a:t>
            </a:r>
            <a:r>
              <a:rPr lang="en-US" err="1">
                <a:latin typeface="Calibri"/>
                <a:ea typeface="Calibri"/>
                <a:cs typeface="Calibri"/>
              </a:rPr>
              <a:t>V_shrink</a:t>
            </a:r>
            <a:r>
              <a:rPr lang="en-US">
                <a:latin typeface="Calibri"/>
                <a:ea typeface="Calibri"/>
                <a:cs typeface="Calibri"/>
              </a:rPr>
              <a:t> we increase batch size, and when it drops below </a:t>
            </a:r>
            <a:r>
              <a:rPr lang="en-US" err="1">
                <a:latin typeface="Calibri"/>
                <a:ea typeface="Calibri"/>
                <a:cs typeface="Calibri"/>
              </a:rPr>
              <a:t>V_shrink</a:t>
            </a:r>
            <a:r>
              <a:rPr lang="en-US">
                <a:latin typeface="Calibri"/>
                <a:ea typeface="Calibri"/>
                <a:cs typeface="Calibri"/>
              </a:rPr>
              <a:t> we reduce batch size. The change in current demand will impact our droop. 30mV above </a:t>
            </a:r>
            <a:r>
              <a:rPr lang="en-US" err="1">
                <a:latin typeface="Calibri"/>
                <a:ea typeface="Calibri"/>
                <a:cs typeface="Calibri"/>
              </a:rPr>
              <a:t>Vmin</a:t>
            </a:r>
            <a:r>
              <a:rPr lang="en-US">
                <a:latin typeface="Calibri"/>
                <a:ea typeface="Calibri"/>
                <a:cs typeface="Calibri"/>
              </a:rPr>
              <a:t> is our safe voltage, and a deadband can be added for programming.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6BF63-EC22-B743-A073-92B72E39562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9594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I_raw</a:t>
            </a:r>
            <a:r>
              <a:rPr lang="en-US" dirty="0"/>
              <a:t> = float(</a:t>
            </a:r>
            <a:r>
              <a:rPr lang="en-US" dirty="0" err="1"/>
              <a:t>power_w</a:t>
            </a:r>
            <a:r>
              <a:rPr lang="en-US" dirty="0"/>
              <a:t>) / </a:t>
            </a:r>
            <a:r>
              <a:rPr lang="en-US" dirty="0" err="1"/>
              <a:t>self.V_nom</a:t>
            </a:r>
            <a:r>
              <a:rPr lang="en-US" dirty="0"/>
              <a:t> (function of current batch, discrete)</a:t>
            </a:r>
          </a:p>
          <a:p>
            <a:r>
              <a:rPr lang="en-US" dirty="0" err="1"/>
              <a:t>I_instant</a:t>
            </a:r>
            <a:r>
              <a:rPr lang="en-US" dirty="0"/>
              <a:t> = </a:t>
            </a:r>
            <a:r>
              <a:rPr lang="en-US" dirty="0" err="1"/>
              <a:t>power_w</a:t>
            </a:r>
            <a:r>
              <a:rPr lang="en-US" dirty="0"/>
              <a:t> + </a:t>
            </a:r>
            <a:r>
              <a:rPr lang="en-US" dirty="0" err="1"/>
              <a:t>P_noise</a:t>
            </a:r>
            <a:endParaRPr lang="en-US" dirty="0"/>
          </a:p>
          <a:p>
            <a:r>
              <a:rPr lang="en-US" dirty="0"/>
              <a:t>σ (</a:t>
            </a:r>
            <a:r>
              <a:rPr lang="en-US" dirty="0" err="1"/>
              <a:t>noise_sigma</a:t>
            </a:r>
            <a:r>
              <a:rPr lang="en-US" dirty="0"/>
              <a:t>(M)) is the standard deviation of residuals measured from NVML during calibration phase. This was needed so </a:t>
            </a:r>
            <a:r>
              <a:rPr lang="en-US" dirty="0" err="1"/>
              <a:t>Vnom</a:t>
            </a:r>
            <a:r>
              <a:rPr lang="en-US" dirty="0"/>
              <a:t> would vary at the given batch size.</a:t>
            </a:r>
          </a:p>
          <a:p>
            <a:r>
              <a:rPr lang="en-US" dirty="0" err="1"/>
              <a:t>I_instant</a:t>
            </a:r>
            <a:r>
              <a:rPr lang="en-US" dirty="0"/>
              <a:t> = (float(</a:t>
            </a:r>
            <a:r>
              <a:rPr lang="en-US" dirty="0" err="1"/>
              <a:t>power_w</a:t>
            </a:r>
            <a:r>
              <a:rPr lang="en-US" dirty="0"/>
              <a:t> + </a:t>
            </a:r>
            <a:r>
              <a:rPr lang="en-US" dirty="0" err="1"/>
              <a:t>P_noise</a:t>
            </a:r>
            <a:r>
              <a:rPr lang="en-US" dirty="0"/>
              <a:t>) / </a:t>
            </a:r>
            <a:r>
              <a:rPr lang="en-US" dirty="0" err="1"/>
              <a:t>self.V_nom</a:t>
            </a:r>
            <a:r>
              <a:rPr lang="en-US" dirty="0"/>
              <a:t>)</a:t>
            </a:r>
          </a:p>
          <a:p>
            <a:r>
              <a:rPr lang="en-US" dirty="0" err="1"/>
              <a:t>I_steady_new</a:t>
            </a:r>
            <a:r>
              <a:rPr lang="en-US" dirty="0"/>
              <a:t> = </a:t>
            </a:r>
            <a:r>
              <a:rPr lang="en-US" dirty="0" err="1"/>
              <a:t>I_steady</a:t>
            </a:r>
            <a:r>
              <a:rPr lang="en-US" dirty="0"/>
              <a:t> + (dt/(</a:t>
            </a:r>
            <a:r>
              <a:rPr lang="en-US" dirty="0" err="1"/>
              <a:t>t_env</a:t>
            </a:r>
            <a:r>
              <a:rPr lang="en-US" dirty="0"/>
              <a:t> + dt)*(</a:t>
            </a:r>
            <a:r>
              <a:rPr lang="en-US" dirty="0" err="1"/>
              <a:t>I_raw</a:t>
            </a:r>
            <a:r>
              <a:rPr lang="en-US" dirty="0"/>
              <a:t> + </a:t>
            </a:r>
            <a:r>
              <a:rPr lang="en-US" dirty="0" err="1"/>
              <a:t>I_steady</a:t>
            </a:r>
            <a:r>
              <a:rPr lang="en-US" dirty="0"/>
              <a:t>) when tau is large </a:t>
            </a:r>
            <a:r>
              <a:rPr lang="en-US" dirty="0" err="1"/>
              <a:t>I_steady</a:t>
            </a:r>
            <a:r>
              <a:rPr lang="en-US" dirty="0"/>
              <a:t> lags behind current steps</a:t>
            </a:r>
          </a:p>
          <a:p>
            <a:endParaRPr lang="en-US" dirty="0"/>
          </a:p>
          <a:p>
            <a:r>
              <a:rPr lang="en-US" dirty="0"/>
              <a:t>  - </a:t>
            </a:r>
            <a:r>
              <a:rPr lang="en-US" dirty="0" err="1"/>
              <a:t>V_dc</a:t>
            </a:r>
            <a:r>
              <a:rPr lang="en-US" dirty="0"/>
              <a:t> is the steady-state droop, driven by </a:t>
            </a:r>
            <a:r>
              <a:rPr lang="en-US" dirty="0" err="1"/>
              <a:t>I_steady</a:t>
            </a:r>
            <a:endParaRPr lang="en-US" dirty="0"/>
          </a:p>
          <a:p>
            <a:r>
              <a:rPr lang="en-US" dirty="0"/>
              <a:t>  - </a:t>
            </a:r>
            <a:r>
              <a:rPr lang="en-US" dirty="0" err="1"/>
              <a:t>V_ac</a:t>
            </a:r>
            <a:r>
              <a:rPr lang="en-US" dirty="0"/>
              <a:t> is the transient spike, driven by </a:t>
            </a:r>
            <a:r>
              <a:rPr lang="en-US" dirty="0" err="1"/>
              <a:t>I_instantaneous</a:t>
            </a:r>
            <a:r>
              <a:rPr lang="en-US" dirty="0"/>
              <a:t> - </a:t>
            </a:r>
            <a:r>
              <a:rPr lang="en-US" dirty="0" err="1"/>
              <a:t>I_steady_old</a:t>
            </a:r>
            <a:endParaRPr lang="en-US" dirty="0"/>
          </a:p>
          <a:p>
            <a:endParaRPr lang="en-US" dirty="0"/>
          </a:p>
          <a:p>
            <a:r>
              <a:rPr lang="en-US" dirty="0" err="1"/>
              <a:t>Vload</a:t>
            </a:r>
            <a:r>
              <a:rPr lang="en-US" dirty="0"/>
              <a:t> = </a:t>
            </a:r>
            <a:r>
              <a:rPr lang="en-US" dirty="0" err="1"/>
              <a:t>Vnom</a:t>
            </a:r>
            <a:r>
              <a:rPr lang="en-US" dirty="0"/>
              <a:t> – Vdc – Vac</a:t>
            </a:r>
          </a:p>
          <a:p>
            <a:r>
              <a:rPr lang="en-US" dirty="0"/>
              <a:t>Compare </a:t>
            </a:r>
            <a:r>
              <a:rPr lang="en-US" dirty="0" err="1"/>
              <a:t>Vload</a:t>
            </a:r>
            <a:r>
              <a:rPr lang="en-US" dirty="0"/>
              <a:t> to </a:t>
            </a:r>
            <a:r>
              <a:rPr lang="en-US" dirty="0" err="1"/>
              <a:t>Vshrink</a:t>
            </a:r>
            <a:endParaRPr lang="en-US" dirty="0"/>
          </a:p>
          <a:p>
            <a:endParaRPr lang="en-US" dirty="0"/>
          </a:p>
          <a:p>
            <a:r>
              <a:rPr lang="en-US" dirty="0"/>
              <a:t>If we shrank before, wait 1ms before growing. Grown/shrink period are over 200us, which is much larger than the 24us PDN natural period, so noise oscillation or ringing should dampen before we determine new </a:t>
            </a:r>
            <a:r>
              <a:rPr lang="en-US" dirty="0" err="1"/>
              <a:t>I_ac</a:t>
            </a:r>
            <a:r>
              <a:rPr lang="en-US" dirty="0"/>
              <a:t> and </a:t>
            </a:r>
            <a:r>
              <a:rPr lang="en-US" dirty="0" err="1"/>
              <a:t>I_dc</a:t>
            </a:r>
            <a:r>
              <a:rPr lang="en-US" dirty="0"/>
              <a:t>. A larger resistance can help achieve a shorter shrink/grow period. Currently our controller does not account for undamped noise on the rail.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6BF63-EC22-B743-A073-92B72E39562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7169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Resnet-18 is in action here. The </a:t>
            </a:r>
            <a:r>
              <a:rPr lang="en-US" sz="18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Vmin</a:t>
            </a: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set to 0.92V which sets the </a:t>
            </a:r>
            <a:r>
              <a:rPr lang="en-US" sz="18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Vshrink</a:t>
            </a: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0.945V.</a:t>
            </a:r>
          </a:p>
          <a:p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 any batch throttling, Resnet-18 causes more than 3000 </a:t>
            </a:r>
            <a:r>
              <a:rPr lang="en-US" sz="18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Vmin</a:t>
            </a: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violations in a span of 30 seconds, which is a guaranteed crash. But with throttling, the # violations comes down to only 40, which is a 99% reduction in </a:t>
            </a:r>
            <a:r>
              <a:rPr lang="en-US" sz="18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Vmin</a:t>
            </a: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violations.</a:t>
            </a:r>
          </a:p>
          <a:p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However, an obvious caveat is that there is a performance hit due to continuous batch throttling. So the key takeaway here is that the workload actually runs with throttling, but without </a:t>
            </a:r>
            <a:r>
              <a:rPr lang="en-US" sz="18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SlewGuard</a:t>
            </a:r>
            <a:r>
              <a:rPr lang="en-US" sz="18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the workload fails entirely due to voltage instability.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6BF63-EC22-B743-A073-92B72E39562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335955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ctr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Now that we've seen the benefit of throttling, let us explore the effect of throttling coupled with PDN sensitivity. Capacitors act as local charge reservoirs that help mitigate high-frequency noise. </a:t>
            </a:r>
          </a:p>
          <a:p>
            <a:pPr rtl="0" fontAlgn="ctr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we double the die capacitance from 1mF to 2mF, the results are dramatic. </a:t>
            </a:r>
          </a:p>
          <a:p>
            <a:pPr rtl="0" fontAlgn="ctr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Higher capacitance solves 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all </a:t>
            </a:r>
            <a:r>
              <a:rPr lang="en-US" sz="1200" b="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Vmin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violations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reducing them from 110 to 0. </a:t>
            </a:r>
          </a:p>
          <a:p>
            <a:pPr rtl="0" fontAlgn="ctr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Because the voltage is more stable, the controller doesn't have to throttle as aggressively. This allows the average performance to more than double, jumping from </a:t>
            </a:r>
            <a:r>
              <a:rPr lang="en-US" sz="1200" b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0.919 TFLOP/s to 2.022 TFLOP/s. 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6BF63-EC22-B743-A073-92B72E39562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275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ctr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If capacitance is our friend, inductance is the enemy. High inductance resists rapid changes in current, making high-frequency noise significantly worse. </a:t>
            </a:r>
          </a:p>
          <a:p>
            <a:pPr rtl="0" fontAlgn="ctr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When we increase die inductance from 15nH to 30nH, the system's stability collapses. </a:t>
            </a:r>
          </a:p>
          <a:p>
            <a:pPr rtl="0" fontAlgn="ctr"/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Vmin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violations skyrocket from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18 to 565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pPr rtl="0" fontAlgn="ctr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controller is forced to throttle much harder to compensate for these inductive spikes, leading to a performance drop from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0.859 TFLOP/s down to 0.756 TFLOP/s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This highlights why low-inductance PDN design is critical for ML hardware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6BF63-EC22-B743-A073-92B72E39562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08054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 fontAlgn="ctr"/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Multi-Level Approach: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Dynamic batch throttling is a powerful tool for lowering violation risks, but it is not a "silver bullet" that solves the issue completely. </a:t>
            </a:r>
            <a:endParaRPr lang="en-US" sz="8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Latency Realities: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There is a software latency floor.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SlewGuard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is excellent for managing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macro-level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voltage droops at the firmware level, but the physical PDN must still handle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micro-level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events. </a:t>
            </a:r>
            <a:endParaRPr lang="en-US" sz="8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Ideal PDN Criteria: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To protect a device fully, we need optimized PDNs that feature:</a:t>
            </a:r>
            <a:endParaRPr lang="en-US" sz="8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ctr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Distributed capacitors to mitigate noise in the MHz to GHz domain. </a:t>
            </a:r>
            <a:endParaRPr lang="en-US" sz="8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ctr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Low target impedance to prevent resonance-induced ringing. </a:t>
            </a:r>
            <a:endParaRPr lang="en-US" sz="8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1" rtl="0" fontAlgn="ctr"/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High-bandwidth voltage regulators. </a:t>
            </a:r>
            <a:endParaRPr lang="en-US" sz="8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 fontAlgn="ctr"/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The Ultimate Goal: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By combining </a:t>
            </a:r>
            <a:r>
              <a:rPr lang="en-US" sz="1200" kern="120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SlewGuard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with an optimized PDN, we can reduce voltage guard bands, minimize throttling, and achieve </a:t>
            </a:r>
            <a:r>
              <a:rPr lang="en-US" sz="1200" b="1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Maximum TOPS</a:t>
            </a:r>
            <a:r>
              <a:rPr lang="en-US"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  <a:endParaRPr lang="en-US" sz="80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E6BF63-EC22-B743-A073-92B72E39562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556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002" y="105879"/>
            <a:ext cx="6933398" cy="383234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6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837892"/>
            <a:ext cx="4184904" cy="91801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B7D523F3-FDC7-CB09-72C3-6753070260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693152" y="0"/>
            <a:ext cx="4498848" cy="6089904"/>
          </a:xfrm>
          <a:custGeom>
            <a:avLst/>
            <a:gdLst>
              <a:gd name="connsiteX0" fmla="*/ 0 w 4510185"/>
              <a:gd name="connsiteY0" fmla="*/ 0 h 6096000"/>
              <a:gd name="connsiteX1" fmla="*/ 4510185 w 4510185"/>
              <a:gd name="connsiteY1" fmla="*/ 0 h 6096000"/>
              <a:gd name="connsiteX2" fmla="*/ 4510185 w 4510185"/>
              <a:gd name="connsiteY2" fmla="*/ 6096000 h 6096000"/>
              <a:gd name="connsiteX3" fmla="*/ 501522 w 4510185"/>
              <a:gd name="connsiteY3" fmla="*/ 6096000 h 6096000"/>
              <a:gd name="connsiteX4" fmla="*/ 0 w 4510185"/>
              <a:gd name="connsiteY4" fmla="*/ 559139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0185" h="6096000">
                <a:moveTo>
                  <a:pt x="0" y="0"/>
                </a:moveTo>
                <a:lnTo>
                  <a:pt x="4510185" y="0"/>
                </a:lnTo>
                <a:lnTo>
                  <a:pt x="4510185" y="6096000"/>
                </a:lnTo>
                <a:lnTo>
                  <a:pt x="501522" y="6096000"/>
                </a:lnTo>
                <a:cubicBezTo>
                  <a:pt x="224540" y="6096000"/>
                  <a:pt x="0" y="5870082"/>
                  <a:pt x="0" y="5591398"/>
                </a:cubicBezTo>
                <a:close/>
              </a:path>
            </a:pathLst>
          </a:cu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47046596-FFEC-0663-2F9B-19F442C8D1F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681816" y="0"/>
            <a:ext cx="4510185" cy="6096000"/>
          </a:xfrm>
          <a:custGeom>
            <a:avLst/>
            <a:gdLst>
              <a:gd name="connsiteX0" fmla="*/ 0 w 4510185"/>
              <a:gd name="connsiteY0" fmla="*/ 0 h 6096000"/>
              <a:gd name="connsiteX1" fmla="*/ 4510185 w 4510185"/>
              <a:gd name="connsiteY1" fmla="*/ 0 h 6096000"/>
              <a:gd name="connsiteX2" fmla="*/ 4510185 w 4510185"/>
              <a:gd name="connsiteY2" fmla="*/ 6096000 h 6096000"/>
              <a:gd name="connsiteX3" fmla="*/ 501522 w 4510185"/>
              <a:gd name="connsiteY3" fmla="*/ 6096000 h 6096000"/>
              <a:gd name="connsiteX4" fmla="*/ 0 w 4510185"/>
              <a:gd name="connsiteY4" fmla="*/ 559139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10185" h="6096000">
                <a:moveTo>
                  <a:pt x="0" y="0"/>
                </a:moveTo>
                <a:lnTo>
                  <a:pt x="4510185" y="0"/>
                </a:lnTo>
                <a:lnTo>
                  <a:pt x="4510185" y="6096000"/>
                </a:lnTo>
                <a:lnTo>
                  <a:pt x="501522" y="6096000"/>
                </a:lnTo>
                <a:cubicBezTo>
                  <a:pt x="224540" y="6096000"/>
                  <a:pt x="0" y="5870082"/>
                  <a:pt x="0" y="5591398"/>
                </a:cubicBezTo>
                <a:close/>
              </a:path>
            </a:pathLst>
          </a:custGeom>
          <a:blipFill dpi="0" rotWithShape="1">
            <a:blip r:embed="rId2">
              <a:alphaModFix amt="8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713396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8391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654" y="1506872"/>
            <a:ext cx="10693446" cy="46653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3968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23860" y="1376413"/>
            <a:ext cx="3834793" cy="269748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23860" y="4073893"/>
            <a:ext cx="3599210" cy="116225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Picture Placeholder 10">
            <a:extLst>
              <a:ext uri="{FF2B5EF4-FFF2-40B4-BE49-F238E27FC236}">
                <a16:creationId xmlns:a16="http://schemas.microsoft.com/office/drawing/2014/main" id="{51CC2D7F-4DE5-3D21-470F-8B959A5C44D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74402" cy="6096000"/>
          </a:xfrm>
          <a:custGeom>
            <a:avLst/>
            <a:gdLst>
              <a:gd name="connsiteX0" fmla="*/ 0 w 7274402"/>
              <a:gd name="connsiteY0" fmla="*/ 0 h 6096000"/>
              <a:gd name="connsiteX1" fmla="*/ 7274402 w 7274402"/>
              <a:gd name="connsiteY1" fmla="*/ 0 h 6096000"/>
              <a:gd name="connsiteX2" fmla="*/ 7274402 w 7274402"/>
              <a:gd name="connsiteY2" fmla="*/ 5598011 h 6096000"/>
              <a:gd name="connsiteX3" fmla="*/ 6779450 w 7274402"/>
              <a:gd name="connsiteY3" fmla="*/ 6096000 h 6096000"/>
              <a:gd name="connsiteX4" fmla="*/ 0 w 7274402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74402" h="6096000">
                <a:moveTo>
                  <a:pt x="0" y="0"/>
                </a:moveTo>
                <a:lnTo>
                  <a:pt x="7274402" y="0"/>
                </a:lnTo>
                <a:lnTo>
                  <a:pt x="7274402" y="5598011"/>
                </a:lnTo>
                <a:cubicBezTo>
                  <a:pt x="7274402" y="5873043"/>
                  <a:pt x="7052804" y="6096000"/>
                  <a:pt x="6779450" y="6096000"/>
                </a:cubicBezTo>
                <a:lnTo>
                  <a:pt x="0" y="6096000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55664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3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6093" y="190500"/>
            <a:ext cx="3923894" cy="2673696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5000"/>
              </a:lnSpc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4873751"/>
            <a:ext cx="3277380" cy="122894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1E33A8AF-9A38-4027-A746-F135FF75F2E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743585" y="0"/>
            <a:ext cx="7448415" cy="6093762"/>
          </a:xfrm>
          <a:custGeom>
            <a:avLst/>
            <a:gdLst>
              <a:gd name="connsiteX0" fmla="*/ 0 w 7448415"/>
              <a:gd name="connsiteY0" fmla="*/ 0 h 6093762"/>
              <a:gd name="connsiteX1" fmla="*/ 7448415 w 7448415"/>
              <a:gd name="connsiteY1" fmla="*/ 0 h 6093762"/>
              <a:gd name="connsiteX2" fmla="*/ 7448415 w 7448415"/>
              <a:gd name="connsiteY2" fmla="*/ 6093762 h 6093762"/>
              <a:gd name="connsiteX3" fmla="*/ 501521 w 7448415"/>
              <a:gd name="connsiteY3" fmla="*/ 6093762 h 6093762"/>
              <a:gd name="connsiteX4" fmla="*/ 0 w 7448415"/>
              <a:gd name="connsiteY4" fmla="*/ 5592240 h 60937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8415" h="6093762">
                <a:moveTo>
                  <a:pt x="0" y="0"/>
                </a:moveTo>
                <a:lnTo>
                  <a:pt x="7448415" y="0"/>
                </a:lnTo>
                <a:lnTo>
                  <a:pt x="7448415" y="6093762"/>
                </a:lnTo>
                <a:lnTo>
                  <a:pt x="501521" y="6093762"/>
                </a:lnTo>
                <a:cubicBezTo>
                  <a:pt x="224538" y="6093762"/>
                  <a:pt x="0" y="5869223"/>
                  <a:pt x="0" y="5592240"/>
                </a:cubicBez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000" y="6329172"/>
            <a:ext cx="2816835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6934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9600" y="5202936"/>
            <a:ext cx="10858500" cy="850392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lnSpc>
                <a:spcPct val="90000"/>
              </a:lnSpc>
              <a:defRPr lang="en-US" sz="3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9600" y="5980176"/>
            <a:ext cx="10858500" cy="419100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9" name="Picture Placeholder 7">
            <a:extLst>
              <a:ext uri="{FF2B5EF4-FFF2-40B4-BE49-F238E27FC236}">
                <a16:creationId xmlns:a16="http://schemas.microsoft.com/office/drawing/2014/main" id="{5E742D34-DBD4-0DEA-071F-32C82E7EB45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1468100" cy="5018448"/>
          </a:xfrm>
          <a:custGeom>
            <a:avLst/>
            <a:gdLst>
              <a:gd name="connsiteX0" fmla="*/ 0 w 11468100"/>
              <a:gd name="connsiteY0" fmla="*/ 0 h 5091600"/>
              <a:gd name="connsiteX1" fmla="*/ 11468100 w 11468100"/>
              <a:gd name="connsiteY1" fmla="*/ 0 h 5091600"/>
              <a:gd name="connsiteX2" fmla="*/ 11468100 w 11468100"/>
              <a:gd name="connsiteY2" fmla="*/ 4590078 h 5091600"/>
              <a:gd name="connsiteX3" fmla="*/ 10966578 w 11468100"/>
              <a:gd name="connsiteY3" fmla="*/ 5091600 h 5091600"/>
              <a:gd name="connsiteX4" fmla="*/ 0 w 11468100"/>
              <a:gd name="connsiteY4" fmla="*/ 5091600 h 5091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5091600">
                <a:moveTo>
                  <a:pt x="0" y="0"/>
                </a:moveTo>
                <a:lnTo>
                  <a:pt x="11468100" y="0"/>
                </a:lnTo>
                <a:lnTo>
                  <a:pt x="11468100" y="4590078"/>
                </a:lnTo>
                <a:cubicBezTo>
                  <a:pt x="11468100" y="4867061"/>
                  <a:pt x="11243561" y="5091600"/>
                  <a:pt x="10966578" y="5091600"/>
                </a:cubicBezTo>
                <a:lnTo>
                  <a:pt x="0" y="5091600"/>
                </a:lnTo>
                <a:close/>
              </a:path>
            </a:pathLst>
          </a:custGeom>
          <a:blipFill dpi="0" rotWithShape="1">
            <a:blip r:embed="rId2">
              <a:alphaModFix amt="75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09600" y="6629400"/>
            <a:ext cx="2805405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11240" y="6629400"/>
            <a:ext cx="2376928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53193" y="6629400"/>
            <a:ext cx="429207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66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2345" y="250257"/>
            <a:ext cx="9692640" cy="4602845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90000"/>
              </a:lnSpc>
              <a:defRPr lang="en-US" sz="8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1999" y="5053094"/>
            <a:ext cx="5253789" cy="847192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7493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60321" y="1904300"/>
            <a:ext cx="7084194" cy="2353755"/>
          </a:xfrm>
        </p:spPr>
        <p:txBody>
          <a:bodyPr anchor="ctr">
            <a:normAutofit/>
          </a:bodyPr>
          <a:lstStyle>
            <a:lvl1pPr algn="ctr">
              <a:lnSpc>
                <a:spcPct val="80000"/>
              </a:lnSpc>
              <a:defRPr sz="600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62965" y="4597167"/>
            <a:ext cx="5678905" cy="108218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417243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-1" y="131670"/>
            <a:ext cx="12120283" cy="5093208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lnSpc>
                <a:spcPct val="85000"/>
              </a:lnSpc>
              <a:defRPr lang="en-US" sz="12500" spc="-50" baseline="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5356548"/>
            <a:ext cx="6414887" cy="748417"/>
          </a:xfrm>
        </p:spPr>
        <p:txBody>
          <a:bodyPr vert="horz" lIns="91440" tIns="45720" rIns="91440" bIns="45720" rtlCol="0" anchor="ctr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664825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827A12A6-507C-2714-2F24-09ADE11584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13702" y="1940943"/>
            <a:ext cx="8771340" cy="4917058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7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2000" y="64008"/>
            <a:ext cx="2816835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0304" y="64008"/>
            <a:ext cx="1612674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4008"/>
            <a:ext cx="457200" cy="338328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831167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22D3B99D-E6B2-4EE8-0A54-0FAA36775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35581" y="2721090"/>
            <a:ext cx="8456418" cy="4136911"/>
          </a:xfrm>
          <a:custGeom>
            <a:avLst/>
            <a:gdLst>
              <a:gd name="connsiteX0" fmla="*/ 501522 w 8456418"/>
              <a:gd name="connsiteY0" fmla="*/ 0 h 4136911"/>
              <a:gd name="connsiteX1" fmla="*/ 7315160 w 8456418"/>
              <a:gd name="connsiteY1" fmla="*/ 0 h 4136911"/>
              <a:gd name="connsiteX2" fmla="*/ 7389577 w 8456418"/>
              <a:gd name="connsiteY2" fmla="*/ 0 h 4136911"/>
              <a:gd name="connsiteX3" fmla="*/ 8456418 w 8456418"/>
              <a:gd name="connsiteY3" fmla="*/ 0 h 4136911"/>
              <a:gd name="connsiteX4" fmla="*/ 8456418 w 8456418"/>
              <a:gd name="connsiteY4" fmla="*/ 4136910 h 4136911"/>
              <a:gd name="connsiteX5" fmla="*/ 7389577 w 8456418"/>
              <a:gd name="connsiteY5" fmla="*/ 4136910 h 4136911"/>
              <a:gd name="connsiteX6" fmla="*/ 7389577 w 8456418"/>
              <a:gd name="connsiteY6" fmla="*/ 4136911 h 4136911"/>
              <a:gd name="connsiteX7" fmla="*/ 0 w 8456418"/>
              <a:gd name="connsiteY7" fmla="*/ 4136911 h 4136911"/>
              <a:gd name="connsiteX8" fmla="*/ 0 w 8456418"/>
              <a:gd name="connsiteY8" fmla="*/ 501522 h 4136911"/>
              <a:gd name="connsiteX9" fmla="*/ 501522 w 8456418"/>
              <a:gd name="connsiteY9" fmla="*/ 0 h 413691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456418" h="4136911">
                <a:moveTo>
                  <a:pt x="501522" y="0"/>
                </a:moveTo>
                <a:lnTo>
                  <a:pt x="7315160" y="0"/>
                </a:lnTo>
                <a:lnTo>
                  <a:pt x="7389577" y="0"/>
                </a:lnTo>
                <a:lnTo>
                  <a:pt x="8456418" y="0"/>
                </a:lnTo>
                <a:lnTo>
                  <a:pt x="8456418" y="4136910"/>
                </a:lnTo>
                <a:lnTo>
                  <a:pt x="7389577" y="4136910"/>
                </a:lnTo>
                <a:lnTo>
                  <a:pt x="7389577" y="4136911"/>
                </a:lnTo>
                <a:lnTo>
                  <a:pt x="0" y="4136911"/>
                </a:lnTo>
                <a:lnTo>
                  <a:pt x="0" y="501522"/>
                </a:lnTo>
                <a:cubicBezTo>
                  <a:pt x="0" y="224539"/>
                  <a:pt x="224538" y="0"/>
                  <a:pt x="50152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8499" y="134751"/>
            <a:ext cx="11429601" cy="2213814"/>
          </a:xfrm>
        </p:spPr>
        <p:txBody>
          <a:bodyPr anchor="t">
            <a:normAutofit/>
          </a:bodyPr>
          <a:lstStyle>
            <a:lvl1pPr>
              <a:lnSpc>
                <a:spcPct val="80000"/>
              </a:lnSpc>
              <a:defRPr sz="9000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67200" y="3124200"/>
            <a:ext cx="7200900" cy="297180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9254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1316" y="154198"/>
            <a:ext cx="11326784" cy="1770855"/>
          </a:xfrm>
        </p:spPr>
        <p:txBody>
          <a:bodyPr anchor="t">
            <a:noAutofit/>
          </a:bodyPr>
          <a:lstStyle>
            <a:lvl1pPr>
              <a:lnSpc>
                <a:spcPct val="80000"/>
              </a:lnSpc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DFF180EE-9609-8056-7D1A-0AB8C9676916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2266752"/>
            <a:ext cx="6871018" cy="4591248"/>
          </a:xfrm>
          <a:custGeom>
            <a:avLst/>
            <a:gdLst>
              <a:gd name="connsiteX0" fmla="*/ 0 w 6871018"/>
              <a:gd name="connsiteY0" fmla="*/ 0 h 4591248"/>
              <a:gd name="connsiteX1" fmla="*/ 6369496 w 6871018"/>
              <a:gd name="connsiteY1" fmla="*/ 0 h 4591248"/>
              <a:gd name="connsiteX2" fmla="*/ 6871018 w 6871018"/>
              <a:gd name="connsiteY2" fmla="*/ 501522 h 4591248"/>
              <a:gd name="connsiteX3" fmla="*/ 6871018 w 6871018"/>
              <a:gd name="connsiteY3" fmla="*/ 4591248 h 4591248"/>
              <a:gd name="connsiteX4" fmla="*/ 0 w 6871018"/>
              <a:gd name="connsiteY4" fmla="*/ 4591248 h 4591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871018" h="4591248">
                <a:moveTo>
                  <a:pt x="0" y="0"/>
                </a:moveTo>
                <a:lnTo>
                  <a:pt x="6369496" y="0"/>
                </a:lnTo>
                <a:cubicBezTo>
                  <a:pt x="6646479" y="0"/>
                  <a:pt x="6871018" y="224539"/>
                  <a:pt x="6871018" y="501522"/>
                </a:cubicBezTo>
                <a:lnTo>
                  <a:pt x="6871018" y="4591248"/>
                </a:lnTo>
                <a:lnTo>
                  <a:pt x="0" y="4591248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 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0ED03D8A-5554-BC86-D031-989A4FC017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084170" y="2266752"/>
            <a:ext cx="5107831" cy="4591248"/>
          </a:xfrm>
          <a:custGeom>
            <a:avLst/>
            <a:gdLst>
              <a:gd name="connsiteX0" fmla="*/ 501521 w 5107831"/>
              <a:gd name="connsiteY0" fmla="*/ 0 h 4591248"/>
              <a:gd name="connsiteX1" fmla="*/ 5107831 w 5107831"/>
              <a:gd name="connsiteY1" fmla="*/ 0 h 4591248"/>
              <a:gd name="connsiteX2" fmla="*/ 5107831 w 5107831"/>
              <a:gd name="connsiteY2" fmla="*/ 4591248 h 4591248"/>
              <a:gd name="connsiteX3" fmla="*/ 0 w 5107831"/>
              <a:gd name="connsiteY3" fmla="*/ 4591248 h 4591248"/>
              <a:gd name="connsiteX4" fmla="*/ 0 w 5107831"/>
              <a:gd name="connsiteY4" fmla="*/ 501522 h 4591248"/>
              <a:gd name="connsiteX5" fmla="*/ 501521 w 5107831"/>
              <a:gd name="connsiteY5" fmla="*/ 0 h 45912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07831" h="4591248">
                <a:moveTo>
                  <a:pt x="501521" y="0"/>
                </a:moveTo>
                <a:lnTo>
                  <a:pt x="5107831" y="0"/>
                </a:lnTo>
                <a:lnTo>
                  <a:pt x="5107831" y="4591248"/>
                </a:lnTo>
                <a:lnTo>
                  <a:pt x="0" y="4591248"/>
                </a:lnTo>
                <a:lnTo>
                  <a:pt x="0" y="501522"/>
                </a:lnTo>
                <a:cubicBezTo>
                  <a:pt x="0" y="224539"/>
                  <a:pt x="224538" y="0"/>
                  <a:pt x="501521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97833" y="2762450"/>
            <a:ext cx="3870267" cy="3333549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97833" y="6329172"/>
            <a:ext cx="2020539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498169" y="6329172"/>
            <a:ext cx="1405916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39181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08428" y="5434066"/>
            <a:ext cx="11259672" cy="1340631"/>
          </a:xfrm>
        </p:spPr>
        <p:txBody>
          <a:bodyPr anchor="ctr">
            <a:noAutofit/>
          </a:bodyPr>
          <a:lstStyle>
            <a:lvl1pPr>
              <a:lnSpc>
                <a:spcPct val="80000"/>
              </a:lnSpc>
              <a:defRPr sz="9200">
                <a:solidFill>
                  <a:schemeClr val="accent1"/>
                </a:solidFill>
              </a:defRPr>
            </a:lvl1pPr>
          </a:lstStyle>
          <a:p>
            <a:r>
              <a:rPr lang="en-US"/>
              <a:t>Agenda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9A527762-C88B-23BA-9A3F-621F88C685C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7075656" cy="5017475"/>
          </a:xfrm>
          <a:custGeom>
            <a:avLst/>
            <a:gdLst>
              <a:gd name="connsiteX0" fmla="*/ 0 w 7075656"/>
              <a:gd name="connsiteY0" fmla="*/ 0 h 5017475"/>
              <a:gd name="connsiteX1" fmla="*/ 7075656 w 7075656"/>
              <a:gd name="connsiteY1" fmla="*/ 0 h 5017475"/>
              <a:gd name="connsiteX2" fmla="*/ 7075656 w 7075656"/>
              <a:gd name="connsiteY2" fmla="*/ 4515953 h 5017475"/>
              <a:gd name="connsiteX3" fmla="*/ 6574134 w 7075656"/>
              <a:gd name="connsiteY3" fmla="*/ 5017475 h 5017475"/>
              <a:gd name="connsiteX4" fmla="*/ 0 w 7075656"/>
              <a:gd name="connsiteY4" fmla="*/ 5017475 h 5017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75656" h="5017475">
                <a:moveTo>
                  <a:pt x="0" y="0"/>
                </a:moveTo>
                <a:lnTo>
                  <a:pt x="7075656" y="0"/>
                </a:lnTo>
                <a:lnTo>
                  <a:pt x="7075656" y="4515953"/>
                </a:lnTo>
                <a:cubicBezTo>
                  <a:pt x="7075656" y="4792936"/>
                  <a:pt x="6851117" y="5017475"/>
                  <a:pt x="6574134" y="5017475"/>
                </a:cubicBezTo>
                <a:lnTo>
                  <a:pt x="0" y="5017475"/>
                </a:lnTo>
                <a:close/>
              </a:path>
            </a:pathLst>
          </a:custGeom>
          <a:blipFill>
            <a:blip r:embed="rId2">
              <a:alphaModFix amt="75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01094" y="791110"/>
            <a:ext cx="3767006" cy="4226366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dirty="0"/>
            </a:lvl2pPr>
            <a:lvl3pPr marL="800100" indent="-342900">
              <a:buFont typeface="+mj-lt"/>
              <a:buAutoNum type="arabicPeriod"/>
              <a:defRPr lang="en-US" dirty="0"/>
            </a:lvl3pPr>
            <a:lvl4pPr marL="1028700" indent="-342900">
              <a:buFont typeface="+mj-lt"/>
              <a:buAutoNum type="arabicPeriod"/>
              <a:defRPr lang="en-US" dirty="0"/>
            </a:lvl4pPr>
            <a:lvl5pPr marL="1257300" indent="-342900">
              <a:buFont typeface="+mj-lt"/>
              <a:buAutoNum type="arabicPeriod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01094" y="190984"/>
            <a:ext cx="2713574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829799" y="190984"/>
            <a:ext cx="107428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190984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612727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89871" y="1717296"/>
            <a:ext cx="5618603" cy="1189805"/>
          </a:xfrm>
        </p:spPr>
        <p:txBody>
          <a:bodyPr anchor="b">
            <a:normAutofit/>
          </a:bodyPr>
          <a:lstStyle>
            <a:lvl1pPr algn="ctr"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D633F00-464B-3088-812A-40496FD1021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884734" y="3138477"/>
            <a:ext cx="4428877" cy="211657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400" dirty="0"/>
            </a:lvl1pPr>
            <a:lvl2pPr marL="228600" indent="0" algn="ctr">
              <a:buNone/>
              <a:defRPr lang="en-US" sz="1200" dirty="0"/>
            </a:lvl2pPr>
            <a:lvl3pPr marL="457200" indent="0" algn="ctr">
              <a:buNone/>
              <a:defRPr lang="en-US" sz="1100" dirty="0"/>
            </a:lvl3pPr>
            <a:lvl4pPr marL="685800" indent="0" algn="ctr">
              <a:buNone/>
              <a:defRPr lang="en-US" sz="1100" dirty="0"/>
            </a:lvl4pPr>
            <a:lvl5pPr marL="914400" indent="0" algn="ctr">
              <a:buNone/>
              <a:defRPr lang="en-US" sz="11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26970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39160" y="1993392"/>
            <a:ext cx="3097924" cy="216035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D42D62A0-8127-CE86-0633-0D65E1E136F7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39103" y="1993392"/>
            <a:ext cx="4856097" cy="35387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60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42625" y="1508760"/>
            <a:ext cx="3390442" cy="2857500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57596" y="1508760"/>
            <a:ext cx="5233669" cy="413187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956488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097280"/>
            <a:ext cx="3205908" cy="3428174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846320" y="1098484"/>
            <a:ext cx="6126480" cy="507371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295543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367238" cy="203120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494998" y="822960"/>
            <a:ext cx="7087401" cy="53492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917415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60520" y="822960"/>
            <a:ext cx="7305005" cy="97265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F1613FF0-3917-A83C-848B-3D1932393483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3493008" cy="6107204"/>
          </a:xfrm>
          <a:custGeom>
            <a:avLst/>
            <a:gdLst>
              <a:gd name="connsiteX0" fmla="*/ 0 w 3493008"/>
              <a:gd name="connsiteY0" fmla="*/ 0 h 6107204"/>
              <a:gd name="connsiteX1" fmla="*/ 3493008 w 3493008"/>
              <a:gd name="connsiteY1" fmla="*/ 0 h 6107204"/>
              <a:gd name="connsiteX2" fmla="*/ 3493008 w 3493008"/>
              <a:gd name="connsiteY2" fmla="*/ 5602161 h 6107204"/>
              <a:gd name="connsiteX3" fmla="*/ 2991486 w 3493008"/>
              <a:gd name="connsiteY3" fmla="*/ 6107204 h 6107204"/>
              <a:gd name="connsiteX4" fmla="*/ 0 w 3493008"/>
              <a:gd name="connsiteY4" fmla="*/ 6107204 h 61072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493008" h="6107204">
                <a:moveTo>
                  <a:pt x="0" y="0"/>
                </a:moveTo>
                <a:lnTo>
                  <a:pt x="3493008" y="0"/>
                </a:lnTo>
                <a:lnTo>
                  <a:pt x="3493008" y="5602161"/>
                </a:lnTo>
                <a:cubicBezTo>
                  <a:pt x="3493008" y="5881089"/>
                  <a:pt x="3268469" y="6107204"/>
                  <a:pt x="2991486" y="6107204"/>
                </a:cubicBezTo>
                <a:lnTo>
                  <a:pt x="0" y="610720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63095" y="1993392"/>
            <a:ext cx="7305005" cy="41208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82902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7196328" cy="106832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1996440"/>
            <a:ext cx="7196328" cy="4099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090" y="6329172"/>
            <a:ext cx="281683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974104" y="6329172"/>
            <a:ext cx="266090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09836" y="6329172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8BBFAFCD-BCC9-C2BB-355B-1D08B9A7708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8698986" y="758460"/>
            <a:ext cx="3493014" cy="6099541"/>
          </a:xfrm>
          <a:custGeom>
            <a:avLst/>
            <a:gdLst>
              <a:gd name="connsiteX0" fmla="*/ 501522 w 3493014"/>
              <a:gd name="connsiteY0" fmla="*/ 0 h 6099541"/>
              <a:gd name="connsiteX1" fmla="*/ 3493014 w 3493014"/>
              <a:gd name="connsiteY1" fmla="*/ 0 h 6099541"/>
              <a:gd name="connsiteX2" fmla="*/ 3493014 w 3493014"/>
              <a:gd name="connsiteY2" fmla="*/ 6099541 h 6099541"/>
              <a:gd name="connsiteX3" fmla="*/ 0 w 3493014"/>
              <a:gd name="connsiteY3" fmla="*/ 6099541 h 6099541"/>
              <a:gd name="connsiteX4" fmla="*/ 0 w 3493014"/>
              <a:gd name="connsiteY4" fmla="*/ 501522 h 6099541"/>
              <a:gd name="connsiteX5" fmla="*/ 501522 w 3493014"/>
              <a:gd name="connsiteY5" fmla="*/ 0 h 6099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493014" h="6099541">
                <a:moveTo>
                  <a:pt x="501522" y="0"/>
                </a:moveTo>
                <a:lnTo>
                  <a:pt x="3493014" y="0"/>
                </a:lnTo>
                <a:lnTo>
                  <a:pt x="3493014" y="6099541"/>
                </a:lnTo>
                <a:lnTo>
                  <a:pt x="0" y="6099541"/>
                </a:lnTo>
                <a:lnTo>
                  <a:pt x="0" y="501522"/>
                </a:lnTo>
                <a:cubicBezTo>
                  <a:pt x="0" y="224539"/>
                  <a:pt x="224539" y="0"/>
                  <a:pt x="501522" y="0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8605180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78799" y="374904"/>
            <a:ext cx="8029143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640F6D4C-AB58-61E2-820C-26713F7162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0"/>
            <a:ext cx="2812577" cy="6096000"/>
          </a:xfrm>
          <a:custGeom>
            <a:avLst/>
            <a:gdLst>
              <a:gd name="connsiteX0" fmla="*/ 0 w 2812577"/>
              <a:gd name="connsiteY0" fmla="*/ 0 h 6096000"/>
              <a:gd name="connsiteX1" fmla="*/ 2812577 w 2812577"/>
              <a:gd name="connsiteY1" fmla="*/ 0 h 6096000"/>
              <a:gd name="connsiteX2" fmla="*/ 2812577 w 2812577"/>
              <a:gd name="connsiteY2" fmla="*/ 5594478 h 6096000"/>
              <a:gd name="connsiteX3" fmla="*/ 2311055 w 2812577"/>
              <a:gd name="connsiteY3" fmla="*/ 6096000 h 6096000"/>
              <a:gd name="connsiteX4" fmla="*/ 0 w 2812577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2577" h="6096000">
                <a:moveTo>
                  <a:pt x="0" y="0"/>
                </a:moveTo>
                <a:lnTo>
                  <a:pt x="2812577" y="0"/>
                </a:lnTo>
                <a:lnTo>
                  <a:pt x="2812577" y="5594478"/>
                </a:lnTo>
                <a:cubicBezTo>
                  <a:pt x="2812577" y="5871461"/>
                  <a:pt x="2588038" y="6096000"/>
                  <a:pt x="2311055" y="6096000"/>
                </a:cubicBezTo>
                <a:lnTo>
                  <a:pt x="0" y="6096000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78798" y="1444752"/>
            <a:ext cx="8029144" cy="4727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78799" y="6329172"/>
            <a:ext cx="269960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2917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4329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365760"/>
            <a:ext cx="7935953" cy="914400"/>
          </a:xfrm>
        </p:spPr>
        <p:txBody>
          <a:bodyPr anchor="b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1444752"/>
            <a:ext cx="7935953" cy="47274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365D02ED-881B-AC26-9FB1-E0C7AC5229C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9379423" y="0"/>
            <a:ext cx="2812577" cy="6096000"/>
          </a:xfrm>
          <a:custGeom>
            <a:avLst/>
            <a:gdLst>
              <a:gd name="connsiteX0" fmla="*/ 0 w 2812577"/>
              <a:gd name="connsiteY0" fmla="*/ 0 h 6096000"/>
              <a:gd name="connsiteX1" fmla="*/ 2812577 w 2812577"/>
              <a:gd name="connsiteY1" fmla="*/ 0 h 6096000"/>
              <a:gd name="connsiteX2" fmla="*/ 2812577 w 2812577"/>
              <a:gd name="connsiteY2" fmla="*/ 6096000 h 6096000"/>
              <a:gd name="connsiteX3" fmla="*/ 501522 w 2812577"/>
              <a:gd name="connsiteY3" fmla="*/ 6096000 h 6096000"/>
              <a:gd name="connsiteX4" fmla="*/ 0 w 2812577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812577" h="6096000">
                <a:moveTo>
                  <a:pt x="0" y="0"/>
                </a:moveTo>
                <a:lnTo>
                  <a:pt x="2812577" y="0"/>
                </a:lnTo>
                <a:lnTo>
                  <a:pt x="2812577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329172"/>
            <a:ext cx="2699608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2917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6329172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92894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81301" y="822960"/>
            <a:ext cx="5986799" cy="109210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253D553-C5F3-3129-9E70-5FFBFDC9ECE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4785141" cy="6096000"/>
          </a:xfrm>
          <a:custGeom>
            <a:avLst/>
            <a:gdLst>
              <a:gd name="connsiteX0" fmla="*/ 0 w 4785141"/>
              <a:gd name="connsiteY0" fmla="*/ 0 h 6096000"/>
              <a:gd name="connsiteX1" fmla="*/ 4785141 w 4785141"/>
              <a:gd name="connsiteY1" fmla="*/ 0 h 6096000"/>
              <a:gd name="connsiteX2" fmla="*/ 4785141 w 4785141"/>
              <a:gd name="connsiteY2" fmla="*/ 5594478 h 6096000"/>
              <a:gd name="connsiteX3" fmla="*/ 4283619 w 4785141"/>
              <a:gd name="connsiteY3" fmla="*/ 6096000 h 6096000"/>
              <a:gd name="connsiteX4" fmla="*/ 0 w 4785141"/>
              <a:gd name="connsiteY4" fmla="*/ 6096000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785141" h="6096000">
                <a:moveTo>
                  <a:pt x="0" y="0"/>
                </a:moveTo>
                <a:lnTo>
                  <a:pt x="4785141" y="0"/>
                </a:lnTo>
                <a:lnTo>
                  <a:pt x="4785141" y="5594478"/>
                </a:lnTo>
                <a:cubicBezTo>
                  <a:pt x="4785141" y="5871461"/>
                  <a:pt x="4560602" y="6096000"/>
                  <a:pt x="4283619" y="6096000"/>
                </a:cubicBezTo>
                <a:lnTo>
                  <a:pt x="0" y="609600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481302" y="1996440"/>
            <a:ext cx="5986798" cy="4099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701828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26" y="822960"/>
            <a:ext cx="6140334" cy="97321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1725" y="1996440"/>
            <a:ext cx="6140335" cy="40992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31088019-00EC-C5EE-FDBA-3FD6E5C52EF8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7619999" y="0"/>
            <a:ext cx="4572001" cy="6095689"/>
          </a:xfrm>
          <a:custGeom>
            <a:avLst/>
            <a:gdLst>
              <a:gd name="connsiteX0" fmla="*/ 0 w 4572001"/>
              <a:gd name="connsiteY0" fmla="*/ 0 h 6095689"/>
              <a:gd name="connsiteX1" fmla="*/ 4572001 w 4572001"/>
              <a:gd name="connsiteY1" fmla="*/ 0 h 6095689"/>
              <a:gd name="connsiteX2" fmla="*/ 4572001 w 4572001"/>
              <a:gd name="connsiteY2" fmla="*/ 6095689 h 6095689"/>
              <a:gd name="connsiteX3" fmla="*/ 501522 w 4572001"/>
              <a:gd name="connsiteY3" fmla="*/ 6095689 h 6095689"/>
              <a:gd name="connsiteX4" fmla="*/ 0 w 4572001"/>
              <a:gd name="connsiteY4" fmla="*/ 5590205 h 6095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1" h="6095689">
                <a:moveTo>
                  <a:pt x="0" y="0"/>
                </a:moveTo>
                <a:lnTo>
                  <a:pt x="4572001" y="0"/>
                </a:lnTo>
                <a:lnTo>
                  <a:pt x="4572001" y="6095689"/>
                </a:lnTo>
                <a:lnTo>
                  <a:pt x="501522" y="6095689"/>
                </a:lnTo>
                <a:cubicBezTo>
                  <a:pt x="224539" y="6095689"/>
                  <a:pt x="0" y="5869376"/>
                  <a:pt x="0" y="5590205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F1B30B23-B6C4-3723-57BA-D70C99D0320B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5CB376B-27E9-4CDA-655E-2AE645F1DE4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EC5A43C-DD1F-E7E6-BBC8-F953BC288BB0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55177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912" y="822960"/>
            <a:ext cx="4243345" cy="108970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DBFBCB5-4A7B-F7B3-9AAF-F908FB128AB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6548534" cy="6100464"/>
          </a:xfrm>
          <a:custGeom>
            <a:avLst/>
            <a:gdLst>
              <a:gd name="connsiteX0" fmla="*/ 0 w 6548534"/>
              <a:gd name="connsiteY0" fmla="*/ 0 h 6100464"/>
              <a:gd name="connsiteX1" fmla="*/ 6548534 w 6548534"/>
              <a:gd name="connsiteY1" fmla="*/ 0 h 6100464"/>
              <a:gd name="connsiteX2" fmla="*/ 6548534 w 6548534"/>
              <a:gd name="connsiteY2" fmla="*/ 5595865 h 6100464"/>
              <a:gd name="connsiteX3" fmla="*/ 6047012 w 6548534"/>
              <a:gd name="connsiteY3" fmla="*/ 6100464 h 6100464"/>
              <a:gd name="connsiteX4" fmla="*/ 0 w 6548534"/>
              <a:gd name="connsiteY4" fmla="*/ 6100464 h 61004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8534" h="6100464">
                <a:moveTo>
                  <a:pt x="0" y="0"/>
                </a:moveTo>
                <a:lnTo>
                  <a:pt x="6548534" y="0"/>
                </a:lnTo>
                <a:lnTo>
                  <a:pt x="6548534" y="5595865"/>
                </a:lnTo>
                <a:cubicBezTo>
                  <a:pt x="6548534" y="5874548"/>
                  <a:pt x="6323995" y="6100464"/>
                  <a:pt x="6047012" y="6100464"/>
                </a:cubicBezTo>
                <a:lnTo>
                  <a:pt x="0" y="6100464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3069" y="1988820"/>
            <a:ext cx="4244188" cy="41116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B8F54AB8-6B4D-C00F-7A9F-6627E7066D2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218C63-B1E1-78F4-CF24-6991FB09C1C4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BD268E9B-F4A2-5ABF-D43A-3BF4DCADB3FB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472159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1724" y="822961"/>
            <a:ext cx="4177554" cy="1031240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71725" y="1993392"/>
            <a:ext cx="4177553" cy="41026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D2D7B58-DFF6-BC00-8544-64FC5F7EED57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5643722" y="0"/>
            <a:ext cx="6548279" cy="6105855"/>
          </a:xfrm>
          <a:custGeom>
            <a:avLst/>
            <a:gdLst>
              <a:gd name="connsiteX0" fmla="*/ 0 w 6548279"/>
              <a:gd name="connsiteY0" fmla="*/ 0 h 6105855"/>
              <a:gd name="connsiteX1" fmla="*/ 6548279 w 6548279"/>
              <a:gd name="connsiteY1" fmla="*/ 0 h 6105855"/>
              <a:gd name="connsiteX2" fmla="*/ 6548279 w 6548279"/>
              <a:gd name="connsiteY2" fmla="*/ 6105855 h 6105855"/>
              <a:gd name="connsiteX3" fmla="*/ 501522 w 6548279"/>
              <a:gd name="connsiteY3" fmla="*/ 6105855 h 6105855"/>
              <a:gd name="connsiteX4" fmla="*/ 0 w 6548279"/>
              <a:gd name="connsiteY4" fmla="*/ 5600680 h 61058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48279" h="6105855">
                <a:moveTo>
                  <a:pt x="0" y="0"/>
                </a:moveTo>
                <a:lnTo>
                  <a:pt x="6548279" y="0"/>
                </a:lnTo>
                <a:lnTo>
                  <a:pt x="6548279" y="6105855"/>
                </a:lnTo>
                <a:lnTo>
                  <a:pt x="501522" y="6105855"/>
                </a:lnTo>
                <a:cubicBezTo>
                  <a:pt x="224539" y="6105855"/>
                  <a:pt x="0" y="5879680"/>
                  <a:pt x="0" y="560068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61403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23912" y="822960"/>
            <a:ext cx="4243345" cy="1089702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03AE08AD-600E-B6CB-33D0-F11CE0529C4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765214"/>
            <a:ext cx="6559827" cy="6092786"/>
          </a:xfrm>
          <a:custGeom>
            <a:avLst/>
            <a:gdLst>
              <a:gd name="connsiteX0" fmla="*/ 0 w 6559827"/>
              <a:gd name="connsiteY0" fmla="*/ 0 h 6092786"/>
              <a:gd name="connsiteX1" fmla="*/ 6058305 w 6559827"/>
              <a:gd name="connsiteY1" fmla="*/ 0 h 6092786"/>
              <a:gd name="connsiteX2" fmla="*/ 6559827 w 6559827"/>
              <a:gd name="connsiteY2" fmla="*/ 501522 h 6092786"/>
              <a:gd name="connsiteX3" fmla="*/ 6559827 w 6559827"/>
              <a:gd name="connsiteY3" fmla="*/ 6092786 h 6092786"/>
              <a:gd name="connsiteX4" fmla="*/ 0 w 6559827"/>
              <a:gd name="connsiteY4" fmla="*/ 6092786 h 609278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9827" h="6092786">
                <a:moveTo>
                  <a:pt x="0" y="0"/>
                </a:moveTo>
                <a:lnTo>
                  <a:pt x="6058305" y="0"/>
                </a:lnTo>
                <a:cubicBezTo>
                  <a:pt x="6335288" y="0"/>
                  <a:pt x="6559827" y="224539"/>
                  <a:pt x="6559827" y="501522"/>
                </a:cubicBezTo>
                <a:lnTo>
                  <a:pt x="6559827" y="6092786"/>
                </a:lnTo>
                <a:lnTo>
                  <a:pt x="0" y="6092786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23069" y="1988820"/>
            <a:ext cx="4244188" cy="41071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23069" y="632917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601199" y="6329172"/>
            <a:ext cx="1387589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329172"/>
            <a:ext cx="454437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626590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324"/>
            <a:ext cx="2959272" cy="163084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68096" y="2590800"/>
            <a:ext cx="2959272" cy="3505200"/>
          </a:xfrm>
        </p:spPr>
        <p:txBody>
          <a:bodyPr vert="horz" lIns="91440" tIns="45720" rIns="91440" bIns="45720" rtlCol="0"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lang="en-US" dirty="0"/>
            </a:lvl1pPr>
            <a:lvl2pPr marL="400050" indent="-171450">
              <a:buFont typeface="Arial" panose="020B0604020202020204" pitchFamily="34" charset="0"/>
              <a:buChar char="•"/>
              <a:defRPr lang="en-US" dirty="0"/>
            </a:lvl2pPr>
            <a:lvl3pPr marL="628650" indent="-171450">
              <a:buFont typeface="Arial" panose="020B0604020202020204" pitchFamily="34" charset="0"/>
              <a:buChar char="•"/>
              <a:defRPr lang="en-US" dirty="0"/>
            </a:lvl3pPr>
            <a:lvl4pPr marL="857250" indent="-171450">
              <a:buFont typeface="Arial" panose="020B0604020202020204" pitchFamily="34" charset="0"/>
              <a:buChar char="•"/>
              <a:defRPr lang="en-US" dirty="0"/>
            </a:lvl4pPr>
            <a:lvl5pPr marL="1085850" indent="-171450">
              <a:buFont typeface="Arial" panose="020B0604020202020204" pitchFamily="34" charset="0"/>
              <a:buChar char="•"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327648"/>
            <a:ext cx="1833677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01773" y="6318659"/>
            <a:ext cx="1092885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694658" y="6318659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0A8E9606-29A0-9DB6-D153-C4863559DC60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383033" y="765213"/>
            <a:ext cx="7808967" cy="6092787"/>
          </a:xfrm>
          <a:custGeom>
            <a:avLst/>
            <a:gdLst>
              <a:gd name="connsiteX0" fmla="*/ 501522 w 7808967"/>
              <a:gd name="connsiteY0" fmla="*/ 0 h 6092787"/>
              <a:gd name="connsiteX1" fmla="*/ 7808967 w 7808967"/>
              <a:gd name="connsiteY1" fmla="*/ 0 h 6092787"/>
              <a:gd name="connsiteX2" fmla="*/ 7808967 w 7808967"/>
              <a:gd name="connsiteY2" fmla="*/ 6092787 h 6092787"/>
              <a:gd name="connsiteX3" fmla="*/ 0 w 7808967"/>
              <a:gd name="connsiteY3" fmla="*/ 6092787 h 6092787"/>
              <a:gd name="connsiteX4" fmla="*/ 0 w 7808967"/>
              <a:gd name="connsiteY4" fmla="*/ 501522 h 6092787"/>
              <a:gd name="connsiteX5" fmla="*/ 501522 w 7808967"/>
              <a:gd name="connsiteY5" fmla="*/ 0 h 60927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7808967" h="6092787">
                <a:moveTo>
                  <a:pt x="501522" y="0"/>
                </a:moveTo>
                <a:lnTo>
                  <a:pt x="7808967" y="0"/>
                </a:lnTo>
                <a:lnTo>
                  <a:pt x="7808967" y="6092787"/>
                </a:lnTo>
                <a:lnTo>
                  <a:pt x="0" y="6092787"/>
                </a:lnTo>
                <a:lnTo>
                  <a:pt x="0" y="501522"/>
                </a:lnTo>
                <a:cubicBezTo>
                  <a:pt x="0" y="224539"/>
                  <a:pt x="224539" y="0"/>
                  <a:pt x="501522" y="0"/>
                </a:cubicBez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5916720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4842437"/>
            <a:ext cx="3636745" cy="1253564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3">
            <a:extLst>
              <a:ext uri="{FF2B5EF4-FFF2-40B4-BE49-F238E27FC236}">
                <a16:creationId xmlns:a16="http://schemas.microsoft.com/office/drawing/2014/main" id="{D90D792C-BF4F-3E3A-5C82-8AA602818235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468100" cy="4354140"/>
          </a:xfrm>
          <a:custGeom>
            <a:avLst/>
            <a:gdLst>
              <a:gd name="connsiteX0" fmla="*/ 0 w 11468100"/>
              <a:gd name="connsiteY0" fmla="*/ 0 h 4354140"/>
              <a:gd name="connsiteX1" fmla="*/ 11468100 w 11468100"/>
              <a:gd name="connsiteY1" fmla="*/ 0 h 4354140"/>
              <a:gd name="connsiteX2" fmla="*/ 11468100 w 11468100"/>
              <a:gd name="connsiteY2" fmla="*/ 3852618 h 4354140"/>
              <a:gd name="connsiteX3" fmla="*/ 10965387 w 11468100"/>
              <a:gd name="connsiteY3" fmla="*/ 4354140 h 4354140"/>
              <a:gd name="connsiteX4" fmla="*/ 0 w 11468100"/>
              <a:gd name="connsiteY4" fmla="*/ 4354140 h 43541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4354140">
                <a:moveTo>
                  <a:pt x="0" y="0"/>
                </a:moveTo>
                <a:lnTo>
                  <a:pt x="11468100" y="0"/>
                </a:lnTo>
                <a:lnTo>
                  <a:pt x="11468100" y="3852618"/>
                </a:lnTo>
                <a:cubicBezTo>
                  <a:pt x="11468100" y="4129601"/>
                  <a:pt x="11243028" y="4354140"/>
                  <a:pt x="10965387" y="4354140"/>
                </a:cubicBezTo>
                <a:lnTo>
                  <a:pt x="0" y="4354140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89635" y="4854632"/>
            <a:ext cx="6579807" cy="1393767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  <a:lvl2pPr marL="228600" indent="0">
              <a:buNone/>
              <a:defRPr lang="en-US" dirty="0"/>
            </a:lvl2pPr>
            <a:lvl3pPr marL="457200" indent="0">
              <a:buNone/>
              <a:defRPr lang="en-US" dirty="0"/>
            </a:lvl3pPr>
            <a:lvl4pPr marL="685800" indent="0">
              <a:buNone/>
              <a:defRPr lang="en-US" dirty="0"/>
            </a:lvl4pPr>
            <a:lvl5pPr marL="914400" indent="0"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934019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4095740"/>
            <a:ext cx="3242191" cy="1704459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C842B8C5-7416-8C92-3E56-737867305A7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0"/>
            <a:ext cx="11468100" cy="3659602"/>
          </a:xfrm>
          <a:custGeom>
            <a:avLst/>
            <a:gdLst>
              <a:gd name="connsiteX0" fmla="*/ 0 w 11468100"/>
              <a:gd name="connsiteY0" fmla="*/ 0 h 3659602"/>
              <a:gd name="connsiteX1" fmla="*/ 11468100 w 11468100"/>
              <a:gd name="connsiteY1" fmla="*/ 0 h 3659602"/>
              <a:gd name="connsiteX2" fmla="*/ 11468100 w 11468100"/>
              <a:gd name="connsiteY2" fmla="*/ 3158080 h 3659602"/>
              <a:gd name="connsiteX3" fmla="*/ 10964923 w 11468100"/>
              <a:gd name="connsiteY3" fmla="*/ 3659602 h 3659602"/>
              <a:gd name="connsiteX4" fmla="*/ 0 w 11468100"/>
              <a:gd name="connsiteY4" fmla="*/ 3659602 h 3659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3659602">
                <a:moveTo>
                  <a:pt x="0" y="0"/>
                </a:moveTo>
                <a:lnTo>
                  <a:pt x="11468100" y="0"/>
                </a:lnTo>
                <a:lnTo>
                  <a:pt x="11468100" y="3158080"/>
                </a:lnTo>
                <a:cubicBezTo>
                  <a:pt x="11468100" y="3435063"/>
                  <a:pt x="11242820" y="3659602"/>
                  <a:pt x="10964923" y="3659602"/>
                </a:cubicBezTo>
                <a:lnTo>
                  <a:pt x="0" y="3659602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4095740"/>
            <a:ext cx="7092745" cy="200601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/>
            </a:lvl1pPr>
            <a:lvl2pPr>
              <a:defRPr lang="en-US"/>
            </a:lvl2pPr>
            <a:lvl3pPr>
              <a:defRPr lang="en-US"/>
            </a:lvl3pPr>
            <a:lvl4pPr>
              <a:defRPr lang="en-US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79243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159974" cy="1612741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C0D06C70-6C8E-0F10-743F-047DC1563DE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772090" y="64008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4B292A-7A06-6DDC-E8C4-EBEEF5A46C03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291411" y="64008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D35E09C-E9FB-8393-0705-FD349F06C4C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11050742" y="64008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822959"/>
            <a:ext cx="7092745" cy="199867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90B4482-E492-864A-9429-7F3F86067CB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3268078"/>
            <a:ext cx="11468100" cy="3589922"/>
          </a:xfrm>
          <a:custGeom>
            <a:avLst/>
            <a:gdLst>
              <a:gd name="connsiteX0" fmla="*/ 0 w 11468100"/>
              <a:gd name="connsiteY0" fmla="*/ 0 h 3589922"/>
              <a:gd name="connsiteX1" fmla="*/ 10964923 w 11468100"/>
              <a:gd name="connsiteY1" fmla="*/ 0 h 3589922"/>
              <a:gd name="connsiteX2" fmla="*/ 11468100 w 11468100"/>
              <a:gd name="connsiteY2" fmla="*/ 501522 h 3589922"/>
              <a:gd name="connsiteX3" fmla="*/ 11468100 w 11468100"/>
              <a:gd name="connsiteY3" fmla="*/ 3589922 h 3589922"/>
              <a:gd name="connsiteX4" fmla="*/ 0 w 11468100"/>
              <a:gd name="connsiteY4" fmla="*/ 3589922 h 3589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3589922">
                <a:moveTo>
                  <a:pt x="0" y="0"/>
                </a:moveTo>
                <a:lnTo>
                  <a:pt x="10964923" y="0"/>
                </a:lnTo>
                <a:cubicBezTo>
                  <a:pt x="11242820" y="0"/>
                  <a:pt x="11468100" y="224539"/>
                  <a:pt x="11468100" y="501522"/>
                </a:cubicBezTo>
                <a:lnTo>
                  <a:pt x="11468100" y="3589922"/>
                </a:lnTo>
                <a:lnTo>
                  <a:pt x="0" y="3589922"/>
                </a:lnTo>
                <a:close/>
              </a:path>
            </a:pathLst>
          </a:custGeom>
          <a:blipFill>
            <a:blip r:embed="rId2">
              <a:alphaModFix amt="7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914669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3316097"/>
            <a:ext cx="3242191" cy="1704459"/>
          </a:xfrm>
        </p:spPr>
        <p:txBody>
          <a:bodyPr anchor="t">
            <a:no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6389053-627F-50C3-46B2-6517FF15D6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"/>
            <a:ext cx="11468100" cy="2879959"/>
          </a:xfrm>
          <a:custGeom>
            <a:avLst/>
            <a:gdLst>
              <a:gd name="connsiteX0" fmla="*/ 0 w 11468100"/>
              <a:gd name="connsiteY0" fmla="*/ 0 h 2879959"/>
              <a:gd name="connsiteX1" fmla="*/ 11468100 w 11468100"/>
              <a:gd name="connsiteY1" fmla="*/ 0 h 2879959"/>
              <a:gd name="connsiteX2" fmla="*/ 11468100 w 11468100"/>
              <a:gd name="connsiteY2" fmla="*/ 2378437 h 2879959"/>
              <a:gd name="connsiteX3" fmla="*/ 10964923 w 11468100"/>
              <a:gd name="connsiteY3" fmla="*/ 2879959 h 2879959"/>
              <a:gd name="connsiteX4" fmla="*/ 0 w 11468100"/>
              <a:gd name="connsiteY4" fmla="*/ 2879959 h 2879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2879959">
                <a:moveTo>
                  <a:pt x="0" y="0"/>
                </a:moveTo>
                <a:lnTo>
                  <a:pt x="11468100" y="0"/>
                </a:lnTo>
                <a:lnTo>
                  <a:pt x="11468100" y="2378437"/>
                </a:lnTo>
                <a:cubicBezTo>
                  <a:pt x="11468100" y="2655420"/>
                  <a:pt x="11242820" y="2879959"/>
                  <a:pt x="10964923" y="2879959"/>
                </a:cubicBezTo>
                <a:lnTo>
                  <a:pt x="0" y="2879959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.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375355" y="3316096"/>
            <a:ext cx="7092745" cy="285292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39178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0442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5F790B68-0230-A98B-796E-2C008AC2CC5D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0" y="1750092"/>
            <a:ext cx="6553940" cy="5107908"/>
          </a:xfrm>
          <a:custGeom>
            <a:avLst/>
            <a:gdLst>
              <a:gd name="connsiteX0" fmla="*/ 0 w 6553940"/>
              <a:gd name="connsiteY0" fmla="*/ 0 h 5107908"/>
              <a:gd name="connsiteX1" fmla="*/ 6118541 w 6553940"/>
              <a:gd name="connsiteY1" fmla="*/ 0 h 5107908"/>
              <a:gd name="connsiteX2" fmla="*/ 6553940 w 6553940"/>
              <a:gd name="connsiteY2" fmla="*/ 439618 h 5107908"/>
              <a:gd name="connsiteX3" fmla="*/ 6553940 w 6553940"/>
              <a:gd name="connsiteY3" fmla="*/ 5107908 h 5107908"/>
              <a:gd name="connsiteX4" fmla="*/ 0 w 6553940"/>
              <a:gd name="connsiteY4" fmla="*/ 5107908 h 51079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53940" h="5107908">
                <a:moveTo>
                  <a:pt x="0" y="0"/>
                </a:moveTo>
                <a:lnTo>
                  <a:pt x="6118541" y="0"/>
                </a:lnTo>
                <a:cubicBezTo>
                  <a:pt x="6359005" y="0"/>
                  <a:pt x="6553940" y="196824"/>
                  <a:pt x="6553940" y="439618"/>
                </a:cubicBezTo>
                <a:lnTo>
                  <a:pt x="6553940" y="5107908"/>
                </a:lnTo>
                <a:lnTo>
                  <a:pt x="0" y="5107908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1897688-419F-6EB2-5CC1-DC14924E5F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199994" y="1679171"/>
            <a:ext cx="4268106" cy="4493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199994" y="6389695"/>
            <a:ext cx="2183822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73704" y="6389695"/>
            <a:ext cx="1625600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25200" y="6389695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8683570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59"/>
            <a:ext cx="4811167" cy="916991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40936EEA-460B-E34D-8B9C-832ADF15E401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1958288"/>
            <a:ext cx="5620853" cy="4899713"/>
          </a:xfrm>
          <a:custGeom>
            <a:avLst/>
            <a:gdLst>
              <a:gd name="connsiteX0" fmla="*/ 0 w 5620853"/>
              <a:gd name="connsiteY0" fmla="*/ 0 h 4899713"/>
              <a:gd name="connsiteX1" fmla="*/ 5119331 w 5620853"/>
              <a:gd name="connsiteY1" fmla="*/ 0 h 4899713"/>
              <a:gd name="connsiteX2" fmla="*/ 5620853 w 5620853"/>
              <a:gd name="connsiteY2" fmla="*/ 501522 h 4899713"/>
              <a:gd name="connsiteX3" fmla="*/ 5620853 w 5620853"/>
              <a:gd name="connsiteY3" fmla="*/ 4899713 h 4899713"/>
              <a:gd name="connsiteX4" fmla="*/ 0 w 5620853"/>
              <a:gd name="connsiteY4" fmla="*/ 4899713 h 48997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20853" h="4899713">
                <a:moveTo>
                  <a:pt x="0" y="0"/>
                </a:moveTo>
                <a:lnTo>
                  <a:pt x="5119331" y="0"/>
                </a:lnTo>
                <a:cubicBezTo>
                  <a:pt x="5396314" y="0"/>
                  <a:pt x="5620853" y="224539"/>
                  <a:pt x="5620853" y="501522"/>
                </a:cubicBezTo>
                <a:lnTo>
                  <a:pt x="5620853" y="4899713"/>
                </a:lnTo>
                <a:lnTo>
                  <a:pt x="0" y="4899713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BAC3300-BF12-B200-9F06-8D5AC45CB7E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314184" y="822960"/>
            <a:ext cx="5153915" cy="52730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311795" y="6387559"/>
            <a:ext cx="2868392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331917" y="6387559"/>
            <a:ext cx="1658678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2325" y="6387559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60536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383280" cy="1269365"/>
          </a:xfrm>
        </p:spPr>
        <p:txBody>
          <a:bodyPr anchor="t">
            <a:normAutofit/>
          </a:bodyPr>
          <a:lstStyle>
            <a:lvl1pPr>
              <a:defRPr sz="2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9">
            <a:extLst>
              <a:ext uri="{FF2B5EF4-FFF2-40B4-BE49-F238E27FC236}">
                <a16:creationId xmlns:a16="http://schemas.microsoft.com/office/drawing/2014/main" id="{2E39E907-908A-148E-8CF0-2C3161E428B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" y="2387462"/>
            <a:ext cx="4145281" cy="4470539"/>
          </a:xfrm>
          <a:custGeom>
            <a:avLst/>
            <a:gdLst>
              <a:gd name="connsiteX0" fmla="*/ 0 w 4145281"/>
              <a:gd name="connsiteY0" fmla="*/ 0 h 4470539"/>
              <a:gd name="connsiteX1" fmla="*/ 3629230 w 4145281"/>
              <a:gd name="connsiteY1" fmla="*/ 0 h 4470539"/>
              <a:gd name="connsiteX2" fmla="*/ 4145281 w 4145281"/>
              <a:gd name="connsiteY2" fmla="*/ 516051 h 4470539"/>
              <a:gd name="connsiteX3" fmla="*/ 4145281 w 4145281"/>
              <a:gd name="connsiteY3" fmla="*/ 4470539 h 4470539"/>
              <a:gd name="connsiteX4" fmla="*/ 0 w 4145281"/>
              <a:gd name="connsiteY4" fmla="*/ 4470539 h 44705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145281" h="4470539">
                <a:moveTo>
                  <a:pt x="0" y="0"/>
                </a:moveTo>
                <a:lnTo>
                  <a:pt x="3629230" y="0"/>
                </a:lnTo>
                <a:cubicBezTo>
                  <a:pt x="3914237" y="0"/>
                  <a:pt x="4145281" y="231044"/>
                  <a:pt x="4145281" y="516051"/>
                </a:cubicBezTo>
                <a:lnTo>
                  <a:pt x="4145281" y="4470539"/>
                </a:lnTo>
                <a:lnTo>
                  <a:pt x="0" y="4470539"/>
                </a:ln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3F7B03F-5EDA-605B-1A2E-F48896E489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839479" y="781685"/>
            <a:ext cx="6628621" cy="539051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46266" y="6388215"/>
            <a:ext cx="2969008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32999" y="6388215"/>
            <a:ext cx="2558901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142323" y="6388215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484371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6EF0D11-5ED9-D2C8-48DF-CDDD85CEAC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-1524" y="0"/>
            <a:ext cx="12192000" cy="6858000"/>
          </a:xfrm>
          <a:prstGeom prst="rect">
            <a:avLst/>
          </a:prstGeom>
          <a:solidFill>
            <a:schemeClr val="accent3"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9888" y="4809744"/>
            <a:ext cx="9345168" cy="1225296"/>
          </a:xfrm>
        </p:spPr>
        <p:txBody>
          <a:bodyPr anchor="t">
            <a:normAutofit/>
          </a:bodyPr>
          <a:lstStyle>
            <a:lvl1pPr algn="ctr">
              <a:lnSpc>
                <a:spcPct val="120000"/>
              </a:lnSpc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03504"/>
            <a:ext cx="11201400" cy="4206240"/>
          </a:xfrm>
        </p:spPr>
        <p:txBody>
          <a:bodyPr anchor="b">
            <a:normAutofit/>
          </a:bodyPr>
          <a:lstStyle>
            <a:lvl1pPr marL="0" indent="0" algn="ctr">
              <a:lnSpc>
                <a:spcPct val="90000"/>
              </a:lnSpc>
              <a:buNone/>
              <a:defRPr sz="27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65867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F3547126-466C-18B0-8C04-007D93615C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-1"/>
            <a:ext cx="11208688" cy="5154130"/>
          </a:xfrm>
          <a:custGeom>
            <a:avLst/>
            <a:gdLst>
              <a:gd name="connsiteX0" fmla="*/ 0 w 11208688"/>
              <a:gd name="connsiteY0" fmla="*/ 0 h 5154130"/>
              <a:gd name="connsiteX1" fmla="*/ 11208688 w 11208688"/>
              <a:gd name="connsiteY1" fmla="*/ 0 h 5154130"/>
              <a:gd name="connsiteX2" fmla="*/ 11208688 w 11208688"/>
              <a:gd name="connsiteY2" fmla="*/ 526471 h 5154130"/>
              <a:gd name="connsiteX3" fmla="*/ 11208688 w 11208688"/>
              <a:gd name="connsiteY3" fmla="*/ 4126137 h 5154130"/>
              <a:gd name="connsiteX4" fmla="*/ 11208688 w 11208688"/>
              <a:gd name="connsiteY4" fmla="*/ 4652608 h 5154130"/>
              <a:gd name="connsiteX5" fmla="*/ 10707166 w 11208688"/>
              <a:gd name="connsiteY5" fmla="*/ 5154130 h 5154130"/>
              <a:gd name="connsiteX6" fmla="*/ 0 w 11208688"/>
              <a:gd name="connsiteY6" fmla="*/ 5154130 h 5154130"/>
              <a:gd name="connsiteX7" fmla="*/ 0 w 11208688"/>
              <a:gd name="connsiteY7" fmla="*/ 4627659 h 5154130"/>
              <a:gd name="connsiteX8" fmla="*/ 0 w 11208688"/>
              <a:gd name="connsiteY8" fmla="*/ 526471 h 51541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208688" h="5154130">
                <a:moveTo>
                  <a:pt x="0" y="0"/>
                </a:moveTo>
                <a:lnTo>
                  <a:pt x="11208688" y="0"/>
                </a:lnTo>
                <a:lnTo>
                  <a:pt x="11208688" y="526471"/>
                </a:lnTo>
                <a:lnTo>
                  <a:pt x="11208688" y="4126137"/>
                </a:lnTo>
                <a:lnTo>
                  <a:pt x="11208688" y="4652608"/>
                </a:lnTo>
                <a:cubicBezTo>
                  <a:pt x="11208688" y="4929591"/>
                  <a:pt x="10984149" y="5154130"/>
                  <a:pt x="10707166" y="5154130"/>
                </a:cubicBezTo>
                <a:lnTo>
                  <a:pt x="0" y="5154130"/>
                </a:lnTo>
                <a:lnTo>
                  <a:pt x="0" y="4627659"/>
                </a:lnTo>
                <a:lnTo>
                  <a:pt x="0" y="526471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89" y="5483352"/>
            <a:ext cx="10361130" cy="84817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6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1015" y="684412"/>
            <a:ext cx="10592204" cy="4122998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spc="-200" baseline="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604114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3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0AA79A0-CEA9-1C5C-A8CA-D3F95D563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57010"/>
            <a:ext cx="11208688" cy="2100988"/>
          </a:xfrm>
          <a:custGeom>
            <a:avLst/>
            <a:gdLst>
              <a:gd name="connsiteX0" fmla="*/ 0 w 11208688"/>
              <a:gd name="connsiteY0" fmla="*/ 0 h 2100988"/>
              <a:gd name="connsiteX1" fmla="*/ 10707166 w 11208688"/>
              <a:gd name="connsiteY1" fmla="*/ 0 h 2100988"/>
              <a:gd name="connsiteX2" fmla="*/ 11208688 w 11208688"/>
              <a:gd name="connsiteY2" fmla="*/ 501522 h 2100988"/>
              <a:gd name="connsiteX3" fmla="*/ 11208688 w 11208688"/>
              <a:gd name="connsiteY3" fmla="*/ 2100988 h 2100988"/>
              <a:gd name="connsiteX4" fmla="*/ 0 w 11208688"/>
              <a:gd name="connsiteY4" fmla="*/ 2100988 h 2100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2100988">
                <a:moveTo>
                  <a:pt x="0" y="0"/>
                </a:moveTo>
                <a:lnTo>
                  <a:pt x="10707166" y="0"/>
                </a:lnTo>
                <a:cubicBezTo>
                  <a:pt x="10984149" y="0"/>
                  <a:pt x="11208688" y="224539"/>
                  <a:pt x="11208688" y="501522"/>
                </a:cubicBezTo>
                <a:lnTo>
                  <a:pt x="11208688" y="2100988"/>
                </a:lnTo>
                <a:lnTo>
                  <a:pt x="0" y="2100988"/>
                </a:lnTo>
                <a:close/>
              </a:path>
            </a:pathLst>
          </a:cu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F2C5FBA-F4AA-552B-2245-767D47272F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1"/>
            <a:ext cx="11208688" cy="4627659"/>
          </a:xfrm>
          <a:custGeom>
            <a:avLst/>
            <a:gdLst>
              <a:gd name="connsiteX0" fmla="*/ 0 w 11208688"/>
              <a:gd name="connsiteY0" fmla="*/ 0 h 4627659"/>
              <a:gd name="connsiteX1" fmla="*/ 11208688 w 11208688"/>
              <a:gd name="connsiteY1" fmla="*/ 0 h 4627659"/>
              <a:gd name="connsiteX2" fmla="*/ 11208688 w 11208688"/>
              <a:gd name="connsiteY2" fmla="*/ 4126137 h 4627659"/>
              <a:gd name="connsiteX3" fmla="*/ 10707166 w 11208688"/>
              <a:gd name="connsiteY3" fmla="*/ 4627659 h 4627659"/>
              <a:gd name="connsiteX4" fmla="*/ 0 w 11208688"/>
              <a:gd name="connsiteY4" fmla="*/ 4627659 h 4627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4627659">
                <a:moveTo>
                  <a:pt x="0" y="0"/>
                </a:moveTo>
                <a:lnTo>
                  <a:pt x="11208688" y="0"/>
                </a:lnTo>
                <a:lnTo>
                  <a:pt x="11208688" y="4126137"/>
                </a:lnTo>
                <a:cubicBezTo>
                  <a:pt x="11208688" y="4403120"/>
                  <a:pt x="10984149" y="4627659"/>
                  <a:pt x="10707166" y="4627659"/>
                </a:cubicBezTo>
                <a:lnTo>
                  <a:pt x="0" y="4627659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230760"/>
            <a:ext cx="9738852" cy="101763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600" dirty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49328" y="420624"/>
            <a:ext cx="10592204" cy="411287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0225984-1615-5B69-4A65-E3A7E6508D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C53913C-4E7F-A6E2-8028-C03CFD32F3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6A6A07C-51B6-897B-8C81-FBA62CFE4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2959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 4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34677EE2-225B-FA02-73B9-DFB5D0135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4783948"/>
            <a:ext cx="11208688" cy="2074052"/>
          </a:xfrm>
          <a:custGeom>
            <a:avLst/>
            <a:gdLst>
              <a:gd name="connsiteX0" fmla="*/ 0 w 11208688"/>
              <a:gd name="connsiteY0" fmla="*/ 0 h 2074052"/>
              <a:gd name="connsiteX1" fmla="*/ 10707166 w 11208688"/>
              <a:gd name="connsiteY1" fmla="*/ 0 h 2074052"/>
              <a:gd name="connsiteX2" fmla="*/ 11208688 w 11208688"/>
              <a:gd name="connsiteY2" fmla="*/ 501522 h 2074052"/>
              <a:gd name="connsiteX3" fmla="*/ 11208688 w 11208688"/>
              <a:gd name="connsiteY3" fmla="*/ 2074052 h 2074052"/>
              <a:gd name="connsiteX4" fmla="*/ 0 w 11208688"/>
              <a:gd name="connsiteY4" fmla="*/ 2074052 h 20740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208688" h="2074052">
                <a:moveTo>
                  <a:pt x="0" y="0"/>
                </a:moveTo>
                <a:lnTo>
                  <a:pt x="10707166" y="0"/>
                </a:lnTo>
                <a:cubicBezTo>
                  <a:pt x="10984149" y="0"/>
                  <a:pt x="11208688" y="224539"/>
                  <a:pt x="11208688" y="501522"/>
                </a:cubicBezTo>
                <a:lnTo>
                  <a:pt x="11208688" y="2074052"/>
                </a:lnTo>
                <a:lnTo>
                  <a:pt x="0" y="207405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C62E16-021E-429D-57AF-0AC1B2666E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5249809"/>
            <a:ext cx="9768348" cy="110907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lnSpc>
                <a:spcPct val="100000"/>
              </a:lnSpc>
              <a:defRPr lang="en-US" sz="2400" dirty="0">
                <a:latin typeface="+mn-lt"/>
              </a:defRPr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D5285B4-939B-FC12-E19A-F30DFE493F0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539496" y="341968"/>
            <a:ext cx="11100816" cy="4334256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lnSpc>
                <a:spcPct val="90000"/>
              </a:lnSpc>
              <a:buNone/>
              <a:defRPr lang="en-US" sz="27800" dirty="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##%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1EFD95-05D4-9FAB-FCB7-D3A2AB29456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D5117C2-BE70-9A87-4113-2ECE3F1A43B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776532-A6F1-5788-D1D1-3F91B5B3B7D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3685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4CBAD94-77D4-9CC1-DE93-BFA7FA5FBB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72090" y="0"/>
            <a:ext cx="11419910" cy="6096000"/>
          </a:xfrm>
          <a:custGeom>
            <a:avLst/>
            <a:gdLst>
              <a:gd name="connsiteX0" fmla="*/ 0 w 11419910"/>
              <a:gd name="connsiteY0" fmla="*/ 0 h 6096000"/>
              <a:gd name="connsiteX1" fmla="*/ 11419910 w 11419910"/>
              <a:gd name="connsiteY1" fmla="*/ 0 h 6096000"/>
              <a:gd name="connsiteX2" fmla="*/ 11419910 w 11419910"/>
              <a:gd name="connsiteY2" fmla="*/ 6096000 h 6096000"/>
              <a:gd name="connsiteX3" fmla="*/ 501522 w 11419910"/>
              <a:gd name="connsiteY3" fmla="*/ 6096000 h 6096000"/>
              <a:gd name="connsiteX4" fmla="*/ 0 w 11419910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19910" h="6096000">
                <a:moveTo>
                  <a:pt x="0" y="0"/>
                </a:moveTo>
                <a:lnTo>
                  <a:pt x="11419910" y="0"/>
                </a:lnTo>
                <a:lnTo>
                  <a:pt x="11419910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520575" y="863029"/>
            <a:ext cx="9383510" cy="4685017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6600" b="0"/>
            </a:lvl1pPr>
            <a:lvl2pPr marL="228600" indent="0">
              <a:lnSpc>
                <a:spcPct val="90000"/>
              </a:lnSpc>
              <a:buNone/>
              <a:defRPr sz="6000" b="0"/>
            </a:lvl2pPr>
            <a:lvl3pPr marL="457200" indent="0">
              <a:lnSpc>
                <a:spcPct val="90000"/>
              </a:lnSpc>
              <a:buNone/>
              <a:defRPr sz="5400" b="0"/>
            </a:lvl3pPr>
            <a:lvl4pPr marL="685800" indent="0">
              <a:lnSpc>
                <a:spcPct val="90000"/>
              </a:lnSpc>
              <a:buNone/>
              <a:defRPr sz="4800" b="0"/>
            </a:lvl4pPr>
            <a:lvl5pPr marL="914400" indent="0">
              <a:lnSpc>
                <a:spcPct val="90000"/>
              </a:lnSpc>
              <a:buNone/>
              <a:defRPr sz="4400" b="0"/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280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4592" y="94592"/>
            <a:ext cx="11617947" cy="575253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7200" b="0" cap="all" spc="-1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7111566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0E08BE8-EB98-F551-F5ED-FE16CE82F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1139327" cy="5821522"/>
          </a:xfrm>
          <a:custGeom>
            <a:avLst/>
            <a:gdLst>
              <a:gd name="connsiteX0" fmla="*/ 0 w 11139327"/>
              <a:gd name="connsiteY0" fmla="*/ 0 h 5821522"/>
              <a:gd name="connsiteX1" fmla="*/ 11139327 w 11139327"/>
              <a:gd name="connsiteY1" fmla="*/ 0 h 5821522"/>
              <a:gd name="connsiteX2" fmla="*/ 11139327 w 11139327"/>
              <a:gd name="connsiteY2" fmla="*/ 5320000 h 5821522"/>
              <a:gd name="connsiteX3" fmla="*/ 10637805 w 11139327"/>
              <a:gd name="connsiteY3" fmla="*/ 5821522 h 5821522"/>
              <a:gd name="connsiteX4" fmla="*/ 0 w 11139327"/>
              <a:gd name="connsiteY4" fmla="*/ 5821522 h 5821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139327" h="5821522">
                <a:moveTo>
                  <a:pt x="0" y="0"/>
                </a:moveTo>
                <a:lnTo>
                  <a:pt x="11139327" y="0"/>
                </a:lnTo>
                <a:lnTo>
                  <a:pt x="11139327" y="5320000"/>
                </a:lnTo>
                <a:cubicBezTo>
                  <a:pt x="11139327" y="5596983"/>
                  <a:pt x="10914788" y="5821522"/>
                  <a:pt x="10637805" y="5821522"/>
                </a:cubicBezTo>
                <a:lnTo>
                  <a:pt x="0" y="5821522"/>
                </a:lnTo>
                <a:close/>
              </a:path>
            </a:pathLst>
          </a:cu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90418" y="288194"/>
            <a:ext cx="9976207" cy="502567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6600" b="0" cap="all" spc="-100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6891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4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EAB2664E-ED20-1581-CFBA-A89627E3FD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0"/>
            <a:ext cx="10719069" cy="5585244"/>
          </a:xfrm>
          <a:custGeom>
            <a:avLst/>
            <a:gdLst>
              <a:gd name="connsiteX0" fmla="*/ 0 w 10719069"/>
              <a:gd name="connsiteY0" fmla="*/ 0 h 5585244"/>
              <a:gd name="connsiteX1" fmla="*/ 10719069 w 10719069"/>
              <a:gd name="connsiteY1" fmla="*/ 0 h 5585244"/>
              <a:gd name="connsiteX2" fmla="*/ 10719069 w 10719069"/>
              <a:gd name="connsiteY2" fmla="*/ 5083722 h 5585244"/>
              <a:gd name="connsiteX3" fmla="*/ 10217547 w 10719069"/>
              <a:gd name="connsiteY3" fmla="*/ 5585244 h 5585244"/>
              <a:gd name="connsiteX4" fmla="*/ 0 w 10719069"/>
              <a:gd name="connsiteY4" fmla="*/ 5585244 h 5585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719069" h="5585244">
                <a:moveTo>
                  <a:pt x="0" y="0"/>
                </a:moveTo>
                <a:lnTo>
                  <a:pt x="10719069" y="0"/>
                </a:lnTo>
                <a:lnTo>
                  <a:pt x="10719069" y="5083722"/>
                </a:lnTo>
                <a:cubicBezTo>
                  <a:pt x="10719069" y="5360705"/>
                  <a:pt x="10494530" y="5585244"/>
                  <a:pt x="10217547" y="5585244"/>
                </a:cubicBezTo>
                <a:lnTo>
                  <a:pt x="0" y="5585244"/>
                </a:lnTo>
                <a:close/>
              </a:path>
            </a:pathLst>
          </a:custGeom>
          <a:solidFill>
            <a:schemeClr val="accent3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31515" y="606176"/>
            <a:ext cx="9339210" cy="453090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6600" b="0" cap="none" baseline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000" b="0" cap="none" baseline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5400" b="0" cap="none" baseline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4800" b="0" cap="none" baseline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4400" b="0" cap="none" baseline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62946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343032" y="1455226"/>
            <a:ext cx="10152770" cy="5065498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7200" b="0">
                <a:solidFill>
                  <a:schemeClr val="accent1"/>
                </a:solidFill>
              </a:defRPr>
            </a:lvl1pPr>
            <a:lvl2pPr marL="228600" indent="0">
              <a:lnSpc>
                <a:spcPct val="90000"/>
              </a:lnSpc>
              <a:buNone/>
              <a:defRPr sz="6600" b="0">
                <a:solidFill>
                  <a:schemeClr val="accent1"/>
                </a:solidFill>
              </a:defRPr>
            </a:lvl2pPr>
            <a:lvl3pPr marL="457200" indent="0">
              <a:lnSpc>
                <a:spcPct val="90000"/>
              </a:lnSpc>
              <a:buNone/>
              <a:defRPr sz="6000" b="0">
                <a:solidFill>
                  <a:schemeClr val="accent1"/>
                </a:solidFill>
              </a:defRPr>
            </a:lvl3pPr>
            <a:lvl4pPr marL="685800" indent="0">
              <a:lnSpc>
                <a:spcPct val="90000"/>
              </a:lnSpc>
              <a:buNone/>
              <a:defRPr sz="5400" b="0">
                <a:solidFill>
                  <a:schemeClr val="accent1"/>
                </a:solidFill>
              </a:defRPr>
            </a:lvl4pPr>
            <a:lvl5pPr marL="914400" indent="0">
              <a:lnSpc>
                <a:spcPct val="90000"/>
              </a:lnSpc>
              <a:buNone/>
              <a:defRPr sz="4800" b="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Statement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8096" y="64008"/>
            <a:ext cx="356999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4008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5096" y="64008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995220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Pr>
        <a:solidFill>
          <a:schemeClr val="accent3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2090" y="5085707"/>
            <a:ext cx="8968722" cy="757309"/>
          </a:xfrm>
        </p:spPr>
        <p:txBody>
          <a:bodyPr anchor="t">
            <a:normAutofit/>
          </a:bodyPr>
          <a:lstStyle>
            <a:lvl1pPr>
              <a:lnSpc>
                <a:spcPct val="120000"/>
              </a:lnSpc>
              <a:defRPr sz="160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2090" y="821934"/>
            <a:ext cx="8968722" cy="3742116"/>
          </a:xfrm>
        </p:spPr>
        <p:txBody>
          <a:bodyPr anchor="t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60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7977294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8096" y="4965192"/>
            <a:ext cx="9841113" cy="128930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72090" y="729465"/>
            <a:ext cx="9841114" cy="3814182"/>
          </a:xfrm>
        </p:spPr>
        <p:txBody>
          <a:bodyPr anchor="t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None/>
              <a:defRPr sz="72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8AE5996-C1E5-AFF0-1C20-EFDC8711799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1554EA42-18F1-82AE-02C3-B2B2A57AD70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A8ACF18-7D60-FEE3-1B8D-6E5F51611A84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012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3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: Shape 5">
            <a:extLst>
              <a:ext uri="{FF2B5EF4-FFF2-40B4-BE49-F238E27FC236}">
                <a16:creationId xmlns:a16="http://schemas.microsoft.com/office/drawing/2014/main" id="{243F357D-01B6-71AD-58FF-26C551B8D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 flipH="1">
            <a:off x="0" y="5155892"/>
            <a:ext cx="11468099" cy="1702107"/>
          </a:xfrm>
          <a:custGeom>
            <a:avLst/>
            <a:gdLst>
              <a:gd name="connsiteX0" fmla="*/ 10322569 w 10836926"/>
              <a:gd name="connsiteY0" fmla="*/ 1702107 h 1702107"/>
              <a:gd name="connsiteX1" fmla="*/ 0 w 10836926"/>
              <a:gd name="connsiteY1" fmla="*/ 1702107 h 1702107"/>
              <a:gd name="connsiteX2" fmla="*/ 0 w 10836926"/>
              <a:gd name="connsiteY2" fmla="*/ 0 h 1702107"/>
              <a:gd name="connsiteX3" fmla="*/ 10836926 w 10836926"/>
              <a:gd name="connsiteY3" fmla="*/ 0 h 1702107"/>
              <a:gd name="connsiteX4" fmla="*/ 10836926 w 10836926"/>
              <a:gd name="connsiteY4" fmla="*/ 1187751 h 1702107"/>
              <a:gd name="connsiteX5" fmla="*/ 10322569 w 10836926"/>
              <a:gd name="connsiteY5" fmla="*/ 1702107 h 1702107"/>
              <a:gd name="connsiteX0" fmla="*/ 10990389 w 11504746"/>
              <a:gd name="connsiteY0" fmla="*/ 1702107 h 1702107"/>
              <a:gd name="connsiteX1" fmla="*/ 0 w 11504746"/>
              <a:gd name="connsiteY1" fmla="*/ 1702107 h 1702107"/>
              <a:gd name="connsiteX2" fmla="*/ 667820 w 11504746"/>
              <a:gd name="connsiteY2" fmla="*/ 0 h 1702107"/>
              <a:gd name="connsiteX3" fmla="*/ 11504746 w 11504746"/>
              <a:gd name="connsiteY3" fmla="*/ 0 h 1702107"/>
              <a:gd name="connsiteX4" fmla="*/ 11504746 w 11504746"/>
              <a:gd name="connsiteY4" fmla="*/ 1187751 h 1702107"/>
              <a:gd name="connsiteX5" fmla="*/ 10990389 w 11504746"/>
              <a:gd name="connsiteY5" fmla="*/ 1702107 h 1702107"/>
              <a:gd name="connsiteX0" fmla="*/ 11000664 w 11515021"/>
              <a:gd name="connsiteY0" fmla="*/ 1702107 h 1702107"/>
              <a:gd name="connsiteX1" fmla="*/ 10275 w 11515021"/>
              <a:gd name="connsiteY1" fmla="*/ 1702107 h 1702107"/>
              <a:gd name="connsiteX2" fmla="*/ 0 w 11515021"/>
              <a:gd name="connsiteY2" fmla="*/ 0 h 1702107"/>
              <a:gd name="connsiteX3" fmla="*/ 11515021 w 11515021"/>
              <a:gd name="connsiteY3" fmla="*/ 0 h 1702107"/>
              <a:gd name="connsiteX4" fmla="*/ 11515021 w 11515021"/>
              <a:gd name="connsiteY4" fmla="*/ 1187751 h 1702107"/>
              <a:gd name="connsiteX5" fmla="*/ 11000664 w 11515021"/>
              <a:gd name="connsiteY5" fmla="*/ 1702107 h 170210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515021" h="1702107">
                <a:moveTo>
                  <a:pt x="11000664" y="1702107"/>
                </a:moveTo>
                <a:lnTo>
                  <a:pt x="10275" y="1702107"/>
                </a:lnTo>
                <a:lnTo>
                  <a:pt x="0" y="0"/>
                </a:lnTo>
                <a:lnTo>
                  <a:pt x="11515021" y="0"/>
                </a:lnTo>
                <a:lnTo>
                  <a:pt x="11515021" y="1187751"/>
                </a:lnTo>
                <a:cubicBezTo>
                  <a:pt x="11515021" y="1471822"/>
                  <a:pt x="11284736" y="1702107"/>
                  <a:pt x="11000664" y="170210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38381" y="5684948"/>
            <a:ext cx="9060691" cy="643997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60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38382" y="1027417"/>
            <a:ext cx="9060691" cy="3400746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66F519-3A11-8ACC-F11B-0C5B8388C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50CCE4-9136-9EA6-8630-92DA75F38F3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677173-46BB-8B19-DE87-86D46A98F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08640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4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DA777E9-52E4-B265-D19D-C179BB567F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0" y="0"/>
            <a:ext cx="10809939" cy="5148072"/>
          </a:xfrm>
          <a:custGeom>
            <a:avLst/>
            <a:gdLst>
              <a:gd name="connsiteX0" fmla="*/ 0 w 10809939"/>
              <a:gd name="connsiteY0" fmla="*/ 0 h 5148072"/>
              <a:gd name="connsiteX1" fmla="*/ 10809939 w 10809939"/>
              <a:gd name="connsiteY1" fmla="*/ 0 h 5148072"/>
              <a:gd name="connsiteX2" fmla="*/ 10809939 w 10809939"/>
              <a:gd name="connsiteY2" fmla="*/ 4646550 h 5148072"/>
              <a:gd name="connsiteX3" fmla="*/ 10308417 w 10809939"/>
              <a:gd name="connsiteY3" fmla="*/ 5148072 h 5148072"/>
              <a:gd name="connsiteX4" fmla="*/ 0 w 10809939"/>
              <a:gd name="connsiteY4" fmla="*/ 5148072 h 51480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9939" h="5148072">
                <a:moveTo>
                  <a:pt x="0" y="0"/>
                </a:moveTo>
                <a:lnTo>
                  <a:pt x="10809939" y="0"/>
                </a:lnTo>
                <a:lnTo>
                  <a:pt x="10809939" y="4646550"/>
                </a:lnTo>
                <a:cubicBezTo>
                  <a:pt x="10809939" y="4923533"/>
                  <a:pt x="10585400" y="5148072"/>
                  <a:pt x="10308417" y="5148072"/>
                </a:cubicBezTo>
                <a:lnTo>
                  <a:pt x="0" y="5148072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67446" y="5518298"/>
            <a:ext cx="8964384" cy="81849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600" b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7446" y="750013"/>
            <a:ext cx="8733760" cy="3800721"/>
          </a:xfrm>
        </p:spPr>
        <p:txBody>
          <a:bodyPr anchor="t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None/>
              <a:defRPr sz="54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D62116-941C-252B-AE63-2508CE4FDD3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772090" y="638251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23547C88-24DC-DAA1-274D-9715ED6805BC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291411" y="6382512"/>
            <a:ext cx="1612674" cy="338328"/>
          </a:xfrm>
        </p:spPr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A921AC9D-428B-1CE3-499F-1289B47D5F2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050742" y="6382512"/>
            <a:ext cx="457200" cy="338328"/>
          </a:xfrm>
        </p:spPr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8216766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5">
    <p:bg>
      <p:bgPr>
        <a:solidFill>
          <a:schemeClr val="accent3">
            <a:alpha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0EBA2EC2-4347-818C-501D-DEEA9CA0D1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" y="-1"/>
            <a:ext cx="10809939" cy="5617255"/>
          </a:xfrm>
          <a:custGeom>
            <a:avLst/>
            <a:gdLst>
              <a:gd name="connsiteX0" fmla="*/ 0 w 10809939"/>
              <a:gd name="connsiteY0" fmla="*/ 0 h 5638868"/>
              <a:gd name="connsiteX1" fmla="*/ 10809939 w 10809939"/>
              <a:gd name="connsiteY1" fmla="*/ 0 h 5638868"/>
              <a:gd name="connsiteX2" fmla="*/ 10809939 w 10809939"/>
              <a:gd name="connsiteY2" fmla="*/ 5116914 h 5638868"/>
              <a:gd name="connsiteX3" fmla="*/ 10287986 w 10809939"/>
              <a:gd name="connsiteY3" fmla="*/ 5638868 h 5638868"/>
              <a:gd name="connsiteX4" fmla="*/ 0 w 10809939"/>
              <a:gd name="connsiteY4" fmla="*/ 5638868 h 56388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0809939" h="5638868">
                <a:moveTo>
                  <a:pt x="0" y="0"/>
                </a:moveTo>
                <a:lnTo>
                  <a:pt x="10809939" y="0"/>
                </a:lnTo>
                <a:lnTo>
                  <a:pt x="10809939" y="5116914"/>
                </a:lnTo>
                <a:cubicBezTo>
                  <a:pt x="10809939" y="5405181"/>
                  <a:pt x="10576253" y="5638868"/>
                  <a:pt x="10287986" y="5638868"/>
                </a:cubicBezTo>
                <a:lnTo>
                  <a:pt x="0" y="5638868"/>
                </a:lnTo>
                <a:close/>
              </a:path>
            </a:pathLst>
          </a:cu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97B7014-5970-11E5-11F0-6B902283689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76765" y="4318612"/>
            <a:ext cx="7364515" cy="996027"/>
          </a:xfrm>
        </p:spPr>
        <p:txBody>
          <a:bodyPr anchor="ctr">
            <a:normAutofit/>
          </a:bodyPr>
          <a:lstStyle>
            <a:lvl1pPr algn="r">
              <a:lnSpc>
                <a:spcPct val="120000"/>
              </a:lnSpc>
              <a:defRPr sz="1400" b="0" spc="100" baseline="0">
                <a:latin typeface="+mn-lt"/>
              </a:defRPr>
            </a:lvl1pPr>
          </a:lstStyle>
          <a:p>
            <a:r>
              <a:rPr lang="en-US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63EF4BD9-B936-0E90-F933-A03D5E185561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768096" y="647700"/>
            <a:ext cx="9473184" cy="3670912"/>
          </a:xfrm>
        </p:spPr>
        <p:txBody>
          <a:bodyPr anchor="ctr">
            <a:normAutofit/>
          </a:bodyPr>
          <a:lstStyle>
            <a:lvl1pPr marL="137160" indent="-137160">
              <a:lnSpc>
                <a:spcPct val="100000"/>
              </a:lnSpc>
              <a:spcBef>
                <a:spcPts val="0"/>
              </a:spcBef>
              <a:buNone/>
              <a:defRPr sz="4800">
                <a:solidFill>
                  <a:schemeClr val="tx2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Quote</a:t>
            </a:r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B68D110F-CED3-F33A-EDD7-57811187B5A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1BE1F328-2362-9468-2593-BAF90BE9CEB0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DADE9A5F-3A0A-29A6-E008-BCCF7C3761B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3302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10706100" cy="674908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07B2D7-7718-3EA4-C727-BB98633A6739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2000" y="1802352"/>
            <a:ext cx="5070020" cy="4293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B1D51A5-7ABE-E37E-E3A4-3AF4A84485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94099" y="1802352"/>
            <a:ext cx="5070021" cy="429364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19530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26" y="822960"/>
            <a:ext cx="10697475" cy="550367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65379" y="1380744"/>
            <a:ext cx="508665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E49B3C-8832-0263-2ACE-16444014FC2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65825" y="2020888"/>
            <a:ext cx="5086349" cy="4227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82512" y="1380744"/>
            <a:ext cx="5086659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F5D88C15-4359-3F27-9B17-CB9581414F7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1751" y="2020888"/>
            <a:ext cx="5086350" cy="42275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296760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0626" y="822960"/>
            <a:ext cx="10698480" cy="828594"/>
          </a:xfrm>
        </p:spPr>
        <p:txBody>
          <a:bodyPr anchor="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6647818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86221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096" y="822960"/>
            <a:ext cx="3195484" cy="1504164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096" y="2311121"/>
            <a:ext cx="3195484" cy="3784879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9805" y="836762"/>
            <a:ext cx="6568296" cy="52592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588739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1" y="822960"/>
            <a:ext cx="3041598" cy="1968931"/>
          </a:xfrm>
        </p:spPr>
        <p:txBody>
          <a:bodyPr anchor="t">
            <a:normAutofit/>
          </a:bodyPr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768096" y="3147059"/>
            <a:ext cx="3041597" cy="2762035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 dirty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9">
            <a:extLst>
              <a:ext uri="{FF2B5EF4-FFF2-40B4-BE49-F238E27FC236}">
                <a16:creationId xmlns:a16="http://schemas.microsoft.com/office/drawing/2014/main" id="{75E80A04-FEAF-D5E8-F208-D79F5852407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502844" y="0"/>
            <a:ext cx="7689157" cy="6096000"/>
          </a:xfrm>
          <a:custGeom>
            <a:avLst/>
            <a:gdLst>
              <a:gd name="connsiteX0" fmla="*/ 0 w 7689157"/>
              <a:gd name="connsiteY0" fmla="*/ 0 h 6096000"/>
              <a:gd name="connsiteX1" fmla="*/ 7689157 w 7689157"/>
              <a:gd name="connsiteY1" fmla="*/ 0 h 6096000"/>
              <a:gd name="connsiteX2" fmla="*/ 7689157 w 7689157"/>
              <a:gd name="connsiteY2" fmla="*/ 6096000 h 6096000"/>
              <a:gd name="connsiteX3" fmla="*/ 501522 w 7689157"/>
              <a:gd name="connsiteY3" fmla="*/ 6096000 h 6096000"/>
              <a:gd name="connsiteX4" fmla="*/ 0 w 7689157"/>
              <a:gd name="connsiteY4" fmla="*/ 5594478 h 6096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689157" h="6096000">
                <a:moveTo>
                  <a:pt x="0" y="0"/>
                </a:moveTo>
                <a:lnTo>
                  <a:pt x="7689157" y="0"/>
                </a:lnTo>
                <a:lnTo>
                  <a:pt x="7689157" y="6096000"/>
                </a:lnTo>
                <a:lnTo>
                  <a:pt x="501522" y="6096000"/>
                </a:lnTo>
                <a:cubicBezTo>
                  <a:pt x="224539" y="6096000"/>
                  <a:pt x="0" y="5871461"/>
                  <a:pt x="0" y="5594478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/>
              <a:t> 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0647359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A6492530-7F0F-7B93-27A9-6F68FAF543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762000" y="2880691"/>
            <a:ext cx="11430000" cy="3977309"/>
          </a:xfrm>
          <a:custGeom>
            <a:avLst/>
            <a:gdLst>
              <a:gd name="connsiteX0" fmla="*/ 0 w 11468099"/>
              <a:gd name="connsiteY0" fmla="*/ 4053508 h 4053508"/>
              <a:gd name="connsiteX1" fmla="*/ 10946146 w 11468099"/>
              <a:gd name="connsiteY1" fmla="*/ 4043963 h 4053508"/>
              <a:gd name="connsiteX2" fmla="*/ 11468099 w 11468099"/>
              <a:gd name="connsiteY2" fmla="*/ 3522009 h 4053508"/>
              <a:gd name="connsiteX3" fmla="*/ 11468099 w 11468099"/>
              <a:gd name="connsiteY3" fmla="*/ 0 h 4053508"/>
              <a:gd name="connsiteX4" fmla="*/ 0 w 11468099"/>
              <a:gd name="connsiteY4" fmla="*/ 0 h 40535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099" h="4053508">
                <a:moveTo>
                  <a:pt x="0" y="4053508"/>
                </a:moveTo>
                <a:lnTo>
                  <a:pt x="10946146" y="4043963"/>
                </a:lnTo>
                <a:cubicBezTo>
                  <a:pt x="11234413" y="4043963"/>
                  <a:pt x="11468099" y="3810276"/>
                  <a:pt x="11468099" y="3522009"/>
                </a:cubicBezTo>
                <a:lnTo>
                  <a:pt x="11468099" y="0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7800" y="190500"/>
            <a:ext cx="11843238" cy="2057400"/>
          </a:xfrm>
        </p:spPr>
        <p:txBody>
          <a:bodyPr anchor="t">
            <a:no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398813" y="3505199"/>
            <a:ext cx="10044665" cy="26670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4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200" dirty="0"/>
            </a:lvl4pPr>
            <a:lvl5pPr marL="914400" indent="0">
              <a:buNone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98813" y="6329172"/>
            <a:ext cx="2816835" cy="338328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436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B07D4EEB-8B0C-3EA1-DB0C-896A8F0C86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rot="10800000">
            <a:off x="2677737" y="2952545"/>
            <a:ext cx="9514262" cy="3905455"/>
          </a:xfrm>
          <a:custGeom>
            <a:avLst/>
            <a:gdLst>
              <a:gd name="connsiteX0" fmla="*/ 0 w 9514262"/>
              <a:gd name="connsiteY0" fmla="*/ 3905455 h 3905455"/>
              <a:gd name="connsiteX1" fmla="*/ 0 w 9514262"/>
              <a:gd name="connsiteY1" fmla="*/ 0 h 3905455"/>
              <a:gd name="connsiteX2" fmla="*/ 9514262 w 9514262"/>
              <a:gd name="connsiteY2" fmla="*/ 0 h 3905455"/>
              <a:gd name="connsiteX3" fmla="*/ 9514262 w 9514262"/>
              <a:gd name="connsiteY3" fmla="*/ 3375660 h 3905455"/>
              <a:gd name="connsiteX4" fmla="*/ 8992309 w 9514262"/>
              <a:gd name="connsiteY4" fmla="*/ 3897614 h 39054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514262" h="3905455">
                <a:moveTo>
                  <a:pt x="0" y="3905455"/>
                </a:moveTo>
                <a:lnTo>
                  <a:pt x="0" y="0"/>
                </a:lnTo>
                <a:lnTo>
                  <a:pt x="9514262" y="0"/>
                </a:lnTo>
                <a:lnTo>
                  <a:pt x="9514262" y="3375660"/>
                </a:lnTo>
                <a:cubicBezTo>
                  <a:pt x="9514262" y="3663927"/>
                  <a:pt x="9280576" y="3897614"/>
                  <a:pt x="8992309" y="3897614"/>
                </a:cubicBezTo>
                <a:close/>
              </a:path>
            </a:pathLst>
          </a:custGeom>
          <a:solidFill>
            <a:schemeClr val="bg1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3373" y="190500"/>
            <a:ext cx="10573396" cy="2475644"/>
          </a:xfrm>
        </p:spPr>
        <p:txBody>
          <a:bodyPr anchor="t">
            <a:noAutofit/>
          </a:bodyPr>
          <a:lstStyle>
            <a:lvl1pPr>
              <a:defRPr sz="8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493213" y="3810000"/>
            <a:ext cx="6976154" cy="167640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/>
            </a:lvl1pPr>
            <a:lvl2pPr marL="228600" indent="0">
              <a:buNone/>
              <a:defRPr lang="en-US" sz="1400" dirty="0"/>
            </a:lvl2pPr>
            <a:lvl3pPr marL="457200" indent="0">
              <a:buNone/>
              <a:defRPr lang="en-US" sz="1200" dirty="0"/>
            </a:lvl3pPr>
            <a:lvl4pPr marL="685800" indent="0">
              <a:buNone/>
              <a:defRPr lang="en-US" sz="1200" dirty="0"/>
            </a:lvl4pPr>
            <a:lvl5pPr marL="914400" indent="0">
              <a:buNone/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354616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090" y="825747"/>
            <a:ext cx="10696010" cy="61880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74654" y="1506872"/>
            <a:ext cx="10693446" cy="45891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772090" y="6329172"/>
            <a:ext cx="2816835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 cap="all" spc="0" baseline="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291411" y="6329172"/>
            <a:ext cx="161267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D7E3ECEC-7E7B-4FB9-BAE8-5C10F12795EA}" type="datetimeFigureOut">
              <a:rPr lang="en-US" smtClean="0"/>
              <a:t>4/30/2026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50742" y="6329172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235F31FF-4816-4A7C-BAEE-4B5C41A91E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449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  <p:sldLayoutId id="2147483693" r:id="rId33"/>
    <p:sldLayoutId id="2147483694" r:id="rId34"/>
    <p:sldLayoutId id="2147483695" r:id="rId35"/>
    <p:sldLayoutId id="2147483696" r:id="rId36"/>
    <p:sldLayoutId id="2147483697" r:id="rId37"/>
    <p:sldLayoutId id="2147483698" r:id="rId38"/>
    <p:sldLayoutId id="2147483699" r:id="rId39"/>
    <p:sldLayoutId id="2147483700" r:id="rId40"/>
    <p:sldLayoutId id="2147483701" r:id="rId41"/>
    <p:sldLayoutId id="2147483702" r:id="rId42"/>
    <p:sldLayoutId id="2147483703" r:id="rId43"/>
    <p:sldLayoutId id="2147483704" r:id="rId44"/>
    <p:sldLayoutId id="2147483705" r:id="rId45"/>
    <p:sldLayoutId id="2147483706" r:id="rId46"/>
    <p:sldLayoutId id="2147483707" r:id="rId47"/>
    <p:sldLayoutId id="2147483708" r:id="rId48"/>
    <p:sldLayoutId id="2147483709" r:id="rId49"/>
    <p:sldLayoutId id="2147483710" r:id="rId50"/>
    <p:sldLayoutId id="2147483711" r:id="rId51"/>
    <p:sldLayoutId id="2147483712" r:id="rId52"/>
    <p:sldLayoutId id="2147483713" r:id="rId53"/>
    <p:sldLayoutId id="2147483714" r:id="rId54"/>
    <p:sldLayoutId id="2147483715" r:id="rId55"/>
    <p:sldLayoutId id="2147483716" r:id="rId56"/>
  </p:sldLayoutIdLs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2500" b="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4000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286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572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085850" indent="-1714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7" pos="480">
          <p15:clr>
            <a:srgbClr val="F26B43"/>
          </p15:clr>
        </p15:guide>
        <p15:guide id="8" pos="7224">
          <p15:clr>
            <a:srgbClr val="F26B43"/>
          </p15:clr>
        </p15:guide>
        <p15:guide id="9" orient="horz" pos="3840">
          <p15:clr>
            <a:srgbClr val="F26B43"/>
          </p15:clr>
        </p15:guide>
        <p15:guide id="10" orient="horz" pos="2160">
          <p15:clr>
            <a:srgbClr val="F26B43"/>
          </p15:clr>
        </p15:guide>
        <p15:guide id="11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8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69F7533-D3BD-CCA6-BCB6-19BD743A5F2B}"/>
              </a:ext>
            </a:extLst>
          </p:cNvPr>
          <p:cNvSpPr txBox="1"/>
          <p:nvPr/>
        </p:nvSpPr>
        <p:spPr>
          <a:xfrm>
            <a:off x="1052659" y="3320996"/>
            <a:ext cx="52860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/>
              <a:t>ECE 69500 - Hardware for Machine Learning</a:t>
            </a:r>
          </a:p>
          <a:p>
            <a:pPr algn="ctr"/>
            <a:r>
              <a:rPr lang="en-US"/>
              <a:t>Nikhil Reddy Mummadi, Jakub Mroczek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D3C5C20-D2FF-732F-585C-8D2A889625AF}"/>
              </a:ext>
            </a:extLst>
          </p:cNvPr>
          <p:cNvSpPr txBox="1">
            <a:spLocks/>
          </p:cNvSpPr>
          <p:nvPr/>
        </p:nvSpPr>
        <p:spPr>
          <a:xfrm>
            <a:off x="762000" y="1295400"/>
            <a:ext cx="5867400" cy="14478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kern="1200" dirty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714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7250" indent="-1714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5850" indent="-1714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b="1"/>
              <a:t>Closed-loop voltage droop controller for ML workloads</a:t>
            </a: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F20374CA-03C1-89CD-A113-F21562729BDA}"/>
              </a:ext>
            </a:extLst>
          </p:cNvPr>
          <p:cNvSpPr txBox="1">
            <a:spLocks/>
          </p:cNvSpPr>
          <p:nvPr/>
        </p:nvSpPr>
        <p:spPr>
          <a:xfrm>
            <a:off x="304800" y="1371600"/>
            <a:ext cx="6781800" cy="193264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600" b="0" kern="1200" cap="all" baseline="0" dirty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/>
              <a:t>Slew Guard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775516D-3A4E-5A0A-F5F3-385F0ACE7C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45" t="17242" r="43051" b="12639"/>
          <a:stretch>
            <a:fillRect/>
          </a:stretch>
        </p:blipFill>
        <p:spPr>
          <a:xfrm>
            <a:off x="7785463" y="0"/>
            <a:ext cx="4419600" cy="59436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7163428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60"/>
    </mc:Choice>
    <mc:Fallback xmlns="">
      <p:transition spd="slow" advTm="96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9D763A-A6F1-2E56-2CD1-1C15F2A298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518160"/>
            <a:ext cx="10706100" cy="683912"/>
          </a:xfrm>
        </p:spPr>
        <p:txBody>
          <a:bodyPr anchor="t">
            <a:normAutofit/>
          </a:bodyPr>
          <a:lstStyle/>
          <a:p>
            <a:pPr algn="ctr"/>
            <a:r>
              <a:rPr lang="en-US"/>
              <a:t>CONTENT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8C3BC0-BDD4-77EA-D1C8-FA31BBE6C2D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92345959"/>
              </p:ext>
            </p:extLst>
          </p:nvPr>
        </p:nvGraphicFramePr>
        <p:xfrm>
          <a:off x="774654" y="1506872"/>
          <a:ext cx="10693446" cy="4665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9295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453"/>
    </mc:Choice>
    <mc:Fallback xmlns="">
      <p:transition spd="slow" advTm="645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EC87B3-CABA-F5B0-B57F-642F65D82A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654" y="1506872"/>
            <a:ext cx="5016546" cy="4665328"/>
          </a:xfrm>
        </p:spPr>
        <p:txBody>
          <a:bodyPr/>
          <a:lstStyle/>
          <a:p>
            <a:pPr marL="0" indent="0">
              <a:buNone/>
            </a:pPr>
            <a:r>
              <a:rPr lang="en-US"/>
              <a:t>How Droop Occurs</a:t>
            </a:r>
          </a:p>
          <a:p>
            <a:r>
              <a:rPr lang="en-US"/>
              <a:t>GPU power delivery network (PDN) has series resistance R, inductance L. Both contribute to droop.</a:t>
            </a:r>
          </a:p>
          <a:p>
            <a:r>
              <a:rPr lang="en-US" err="1"/>
              <a:t>V_load</a:t>
            </a:r>
            <a:r>
              <a:rPr lang="en-US"/>
              <a:t>  =  </a:t>
            </a:r>
            <a:r>
              <a:rPr lang="en-US" err="1"/>
              <a:t>V_nom</a:t>
            </a:r>
            <a:r>
              <a:rPr lang="en-US"/>
              <a:t> − </a:t>
            </a:r>
            <a:r>
              <a:rPr lang="en-US" err="1"/>
              <a:t>V_dc</a:t>
            </a:r>
            <a:r>
              <a:rPr lang="en-US"/>
              <a:t> − </a:t>
            </a:r>
            <a:r>
              <a:rPr lang="en-US" err="1"/>
              <a:t>V_ac</a:t>
            </a:r>
            <a:endParaRPr lang="en-US"/>
          </a:p>
          <a:p>
            <a:pPr lvl="1"/>
            <a:r>
              <a:rPr lang="en-US" err="1"/>
              <a:t>V_dc</a:t>
            </a:r>
            <a:r>
              <a:rPr lang="en-US"/>
              <a:t> – I * R (DC resistive drop)</a:t>
            </a:r>
          </a:p>
          <a:p>
            <a:pPr lvl="1"/>
            <a:r>
              <a:rPr lang="en-US" err="1"/>
              <a:t>V_ac</a:t>
            </a:r>
            <a:r>
              <a:rPr lang="en-US"/>
              <a:t> = ΔI · Z_LC · </a:t>
            </a:r>
            <a:r>
              <a:rPr lang="en-US" err="1"/>
              <a:t>overshoot_factor</a:t>
            </a:r>
            <a:endParaRPr lang="en-US"/>
          </a:p>
          <a:p>
            <a:pPr lvl="2"/>
            <a:r>
              <a:rPr lang="en-US"/>
              <a:t>Z_LC  =  √(L/C)</a:t>
            </a:r>
          </a:p>
          <a:p>
            <a:r>
              <a:rPr lang="en-US"/>
              <a:t>GPU demand for more current leads to higher </a:t>
            </a:r>
            <a:r>
              <a:rPr lang="en-US" err="1"/>
              <a:t>V_dc</a:t>
            </a:r>
            <a:r>
              <a:rPr lang="en-US"/>
              <a:t>, </a:t>
            </a:r>
            <a:r>
              <a:rPr lang="en-US" err="1"/>
              <a:t>V_ac</a:t>
            </a:r>
            <a:r>
              <a:rPr lang="en-US"/>
              <a:t> resulting in a decreased </a:t>
            </a:r>
            <a:r>
              <a:rPr lang="en-US" err="1"/>
              <a:t>V_load</a:t>
            </a:r>
            <a:endParaRPr lang="en-US"/>
          </a:p>
          <a:p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6ABB740-8AA6-6DE0-32C6-7C2816E3A179}"/>
              </a:ext>
            </a:extLst>
          </p:cNvPr>
          <p:cNvSpPr txBox="1"/>
          <p:nvPr/>
        </p:nvSpPr>
        <p:spPr>
          <a:xfrm>
            <a:off x="742950" y="381000"/>
            <a:ext cx="10706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/>
              <a:t>The Problem: GPU Voltage Droop</a:t>
            </a:r>
          </a:p>
        </p:txBody>
      </p:sp>
      <p:pic>
        <p:nvPicPr>
          <p:cNvPr id="1028" name="Picture 4" descr="Example of one-port RLC network. | Download Scientific Diagram">
            <a:extLst>
              <a:ext uri="{FF2B5EF4-FFF2-40B4-BE49-F238E27FC236}">
                <a16:creationId xmlns:a16="http://schemas.microsoft.com/office/drawing/2014/main" id="{C27D8AEE-CC62-BDD5-089C-AD3AA5E98E4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679"/>
          <a:stretch>
            <a:fillRect/>
          </a:stretch>
        </p:blipFill>
        <p:spPr bwMode="auto">
          <a:xfrm>
            <a:off x="711246" y="4746741"/>
            <a:ext cx="2641554" cy="1524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0769978-5D7B-A44B-323D-4CBBCA21C3E8}"/>
              </a:ext>
            </a:extLst>
          </p:cNvPr>
          <p:cNvSpPr txBox="1"/>
          <p:nvPr/>
        </p:nvSpPr>
        <p:spPr>
          <a:xfrm>
            <a:off x="3200400" y="5333711"/>
            <a:ext cx="990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/>
              <a:t>Current Sink (GPU)</a:t>
            </a:r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421F7BAF-7A67-3D8F-1218-E12470C5BB0F}"/>
              </a:ext>
            </a:extLst>
          </p:cNvPr>
          <p:cNvSpPr txBox="1">
            <a:spLocks/>
          </p:cNvSpPr>
          <p:nvPr/>
        </p:nvSpPr>
        <p:spPr>
          <a:xfrm>
            <a:off x="5778546" y="1506872"/>
            <a:ext cx="5016546" cy="46653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85750" indent="-28575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00050" indent="-1714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28650" indent="-1714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57250" indent="-1714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85850" indent="-17145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/>
              <a:t>Why Droop Matters</a:t>
            </a:r>
          </a:p>
          <a:p>
            <a:r>
              <a:rPr lang="en-US" err="1"/>
              <a:t>V_load</a:t>
            </a:r>
            <a:r>
              <a:rPr lang="en-US"/>
              <a:t> &lt; </a:t>
            </a:r>
            <a:r>
              <a:rPr lang="en-US" err="1"/>
              <a:t>V_min</a:t>
            </a:r>
            <a:r>
              <a:rPr lang="en-US"/>
              <a:t> =&gt; timing violations, data corruption, or crash</a:t>
            </a:r>
          </a:p>
          <a:p>
            <a:r>
              <a:rPr lang="en-US"/>
              <a:t>To account for voltage droop either a voltage guard band or lower operating frequency are needed</a:t>
            </a:r>
          </a:p>
          <a:p>
            <a:pPr lvl="1"/>
            <a:r>
              <a:rPr lang="en-US"/>
              <a:t>Voltage guard band: </a:t>
            </a:r>
          </a:p>
          <a:p>
            <a:pPr lvl="2"/>
            <a:r>
              <a:rPr lang="en-US"/>
              <a:t>Higher </a:t>
            </a:r>
            <a:r>
              <a:rPr lang="en-US" err="1"/>
              <a:t>V_nom</a:t>
            </a:r>
            <a:r>
              <a:rPr lang="en-US"/>
              <a:t> to ensure </a:t>
            </a:r>
            <a:r>
              <a:rPr lang="en-US" err="1"/>
              <a:t>V_nom</a:t>
            </a:r>
            <a:r>
              <a:rPr lang="en-US"/>
              <a:t> – </a:t>
            </a:r>
            <a:r>
              <a:rPr lang="en-US" err="1"/>
              <a:t>V_droop</a:t>
            </a:r>
            <a:r>
              <a:rPr lang="en-US"/>
              <a:t> &gt; Vmin</a:t>
            </a:r>
          </a:p>
          <a:p>
            <a:pPr lvl="2"/>
            <a:r>
              <a:rPr lang="en-US"/>
              <a:t>Costs more power (P ∝ V²)</a:t>
            </a:r>
          </a:p>
          <a:p>
            <a:pPr lvl="1"/>
            <a:r>
              <a:rPr lang="en-US"/>
              <a:t>Reduce operating frequency:</a:t>
            </a:r>
          </a:p>
          <a:p>
            <a:pPr lvl="2"/>
            <a:r>
              <a:rPr lang="en-US"/>
              <a:t>Lower voltage requires lower clock frequency as transistor switching time is reduced.</a:t>
            </a:r>
          </a:p>
          <a:p>
            <a:pPr lvl="2"/>
            <a:r>
              <a:rPr lang="en-US"/>
              <a:t>Must account for the worst-case droop voltage, reducing performance to avoid timing violations </a:t>
            </a:r>
          </a:p>
        </p:txBody>
      </p:sp>
    </p:spTree>
    <p:extLst>
      <p:ext uri="{BB962C8B-B14F-4D97-AF65-F5344CB8AC3E}">
        <p14:creationId xmlns:p14="http://schemas.microsoft.com/office/powerpoint/2010/main" val="42315460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672"/>
    </mc:Choice>
    <mc:Fallback xmlns="">
      <p:transition spd="slow" advTm="12672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B6D0C5-47FD-F262-C338-5DB67F785A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06CF790-747F-0DCA-E31D-0BD6EA98B362}"/>
              </a:ext>
            </a:extLst>
          </p:cNvPr>
          <p:cNvSpPr txBox="1"/>
          <p:nvPr/>
        </p:nvSpPr>
        <p:spPr>
          <a:xfrm>
            <a:off x="729698" y="219596"/>
            <a:ext cx="10706100" cy="4770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500" cap="all"/>
              <a:t>SLEWGUARD ARCHITECTURE</a:t>
            </a:r>
            <a:endParaRPr lang="en-US" sz="2500">
              <a:solidFill>
                <a:srgbClr val="000000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66B1033-6048-B3EA-6A22-D30CAD63F5E9}"/>
              </a:ext>
            </a:extLst>
          </p:cNvPr>
          <p:cNvGrpSpPr/>
          <p:nvPr/>
        </p:nvGrpSpPr>
        <p:grpSpPr>
          <a:xfrm>
            <a:off x="213361" y="1003257"/>
            <a:ext cx="5111363" cy="1842715"/>
            <a:chOff x="471778" y="1003257"/>
            <a:chExt cx="3945174" cy="1842715"/>
          </a:xfrm>
        </p:grpSpPr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D281E04A-80B9-8864-6CE6-7FF52ECEB3A7}"/>
                </a:ext>
              </a:extLst>
            </p:cNvPr>
            <p:cNvSpPr/>
            <p:nvPr/>
          </p:nvSpPr>
          <p:spPr>
            <a:xfrm>
              <a:off x="471778" y="1003257"/>
              <a:ext cx="3945174" cy="1842715"/>
            </a:xfrm>
            <a:prstGeom prst="rect">
              <a:avLst/>
            </a:prstGeom>
            <a:solidFill>
              <a:srgbClr val="0F3A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AA4C9A7C-6D20-AFE6-7BE5-48DDAF472760}"/>
                </a:ext>
              </a:extLst>
            </p:cNvPr>
            <p:cNvSpPr txBox="1"/>
            <p:nvPr/>
          </p:nvSpPr>
          <p:spPr>
            <a:xfrm>
              <a:off x="728206" y="1165993"/>
              <a:ext cx="3551583" cy="400110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l"/>
              <a:r>
                <a:rPr sz="2000" b="1" i="0">
                  <a:solidFill>
                    <a:srgbClr val="76B900"/>
                  </a:solidFill>
                </a:rPr>
                <a:t>Workload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9709A5EB-5F57-4AC3-C54E-C2F11A7355AB}"/>
                </a:ext>
              </a:extLst>
            </p:cNvPr>
            <p:cNvSpPr txBox="1"/>
            <p:nvPr/>
          </p:nvSpPr>
          <p:spPr>
            <a:xfrm>
              <a:off x="727546" y="1565811"/>
              <a:ext cx="3545619" cy="891078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sz="1200" b="0" i="0">
                  <a:solidFill>
                    <a:srgbClr val="FFFFFF"/>
                  </a:solidFill>
                </a:rPr>
                <a:t>GEMM (naive / tiled-GELU)</a:t>
              </a:r>
              <a:endParaRPr lang="en-US" sz="1200" b="0" i="0">
                <a:solidFill>
                  <a:srgbClr val="FFFFFF"/>
                </a:solidFill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FFFFFF"/>
                  </a:solidFill>
                </a:rPr>
                <a:t>ResNet-18 forward pass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FFFFFF"/>
                  </a:solidFill>
                </a:rPr>
                <a:t>Batch size M is the control knob</a:t>
              </a:r>
              <a:endParaRPr sz="1400" b="0" i="0">
                <a:solidFill>
                  <a:srgbClr val="FFFFFF"/>
                </a:solidFill>
              </a:endParaRPr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16B79CA9-C10D-A72A-C605-41A40BAE2A85}"/>
              </a:ext>
            </a:extLst>
          </p:cNvPr>
          <p:cNvGrpSpPr/>
          <p:nvPr/>
        </p:nvGrpSpPr>
        <p:grpSpPr>
          <a:xfrm>
            <a:off x="6274905" y="1003256"/>
            <a:ext cx="5542060" cy="1842718"/>
            <a:chOff x="6149009" y="1129152"/>
            <a:chExt cx="5568564" cy="1975239"/>
          </a:xfrm>
        </p:grpSpPr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49279BBF-56BC-F30A-473F-43B879F86D3E}"/>
                </a:ext>
              </a:extLst>
            </p:cNvPr>
            <p:cNvSpPr/>
            <p:nvPr/>
          </p:nvSpPr>
          <p:spPr>
            <a:xfrm>
              <a:off x="6149009" y="1129152"/>
              <a:ext cx="5568564" cy="1975239"/>
            </a:xfrm>
            <a:prstGeom prst="rect">
              <a:avLst/>
            </a:prstGeom>
            <a:solidFill>
              <a:srgbClr val="0F3A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E6D1BC53-F83B-B362-8CEA-8375A4319970}"/>
                </a:ext>
              </a:extLst>
            </p:cNvPr>
            <p:cNvSpPr txBox="1"/>
            <p:nvPr/>
          </p:nvSpPr>
          <p:spPr>
            <a:xfrm>
              <a:off x="6286170" y="1238880"/>
              <a:ext cx="5307497" cy="428884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l"/>
              <a:r>
                <a:rPr lang="en-US" sz="2000" b="1">
                  <a:solidFill>
                    <a:srgbClr val="76B900"/>
                  </a:solidFill>
                </a:rPr>
                <a:t>Profiler</a:t>
              </a:r>
              <a:endParaRPr sz="2000" b="1" i="0">
                <a:solidFill>
                  <a:srgbClr val="76B900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2F8508C9-5005-D31A-CF2D-C860045BBFC6}"/>
                </a:ext>
              </a:extLst>
            </p:cNvPr>
            <p:cNvSpPr txBox="1"/>
            <p:nvPr/>
          </p:nvSpPr>
          <p:spPr>
            <a:xfrm>
              <a:off x="6285508" y="1638698"/>
              <a:ext cx="5308159" cy="1252080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FFFFFF"/>
                  </a:solidFill>
                </a:rPr>
                <a:t>Real GPU telemetry at sub-</a:t>
              </a:r>
              <a:r>
                <a:rPr lang="en-US" sz="1200" err="1">
                  <a:solidFill>
                    <a:srgbClr val="FFFFFF"/>
                  </a:solidFill>
                </a:rPr>
                <a:t>ms</a:t>
              </a:r>
              <a:endParaRPr lang="en-US" sz="1200">
                <a:solidFill>
                  <a:srgbClr val="FFFFFF"/>
                </a:solidFill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FFFFFF"/>
                  </a:solidFill>
                </a:rPr>
                <a:t>NVML power ring-buffer drain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FFFFFF"/>
                  </a:solidFill>
                </a:rPr>
                <a:t>Calibrate </a:t>
              </a:r>
              <a:r>
                <a:rPr lang="en-US" sz="1200" err="1">
                  <a:solidFill>
                    <a:srgbClr val="FFFFFF"/>
                  </a:solidFill>
                </a:rPr>
                <a:t>P_idle</a:t>
              </a:r>
              <a:r>
                <a:rPr lang="en-US" sz="1200">
                  <a:solidFill>
                    <a:srgbClr val="FFFFFF"/>
                  </a:solidFill>
                </a:rPr>
                <a:t> &amp; </a:t>
              </a:r>
              <a:r>
                <a:rPr lang="en-US" sz="1200" err="1">
                  <a:solidFill>
                    <a:srgbClr val="FFFFFF"/>
                  </a:solidFill>
                </a:rPr>
                <a:t>P_full</a:t>
              </a:r>
              <a:r>
                <a:rPr lang="en-US" sz="1200">
                  <a:solidFill>
                    <a:srgbClr val="FFFFFF"/>
                  </a:solidFill>
                </a:rPr>
                <a:t>. </a:t>
              </a:r>
            </a:p>
            <a:p>
              <a:pPr marL="7429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FFFFFF"/>
                  </a:solidFill>
                </a:rPr>
                <a:t>Controller uses this to predict </a:t>
              </a:r>
              <a:r>
                <a:rPr lang="el-GR" sz="1200">
                  <a:solidFill>
                    <a:srgbClr val="FFFFFF"/>
                  </a:solidFill>
                </a:rPr>
                <a:t>Δ</a:t>
              </a:r>
              <a:r>
                <a:rPr lang="en-US" sz="1200">
                  <a:solidFill>
                    <a:srgbClr val="FFFFFF"/>
                  </a:solidFill>
                </a:rPr>
                <a:t>I when M is adjusted</a:t>
              </a: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0BE83FF3-A6F7-4C11-C06D-0DE91571D246}"/>
              </a:ext>
            </a:extLst>
          </p:cNvPr>
          <p:cNvGrpSpPr/>
          <p:nvPr/>
        </p:nvGrpSpPr>
        <p:grpSpPr>
          <a:xfrm>
            <a:off x="6276231" y="3751094"/>
            <a:ext cx="5535433" cy="1981863"/>
            <a:chOff x="191441" y="3486051"/>
            <a:chExt cx="6104141" cy="2240280"/>
          </a:xfrm>
        </p:grpSpPr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342C2A71-5C25-39CE-9E3E-64C714F2B4CA}"/>
                </a:ext>
              </a:extLst>
            </p:cNvPr>
            <p:cNvSpPr/>
            <p:nvPr/>
          </p:nvSpPr>
          <p:spPr>
            <a:xfrm>
              <a:off x="191441" y="3486051"/>
              <a:ext cx="6104141" cy="2240280"/>
            </a:xfrm>
            <a:prstGeom prst="rect">
              <a:avLst/>
            </a:prstGeom>
            <a:solidFill>
              <a:srgbClr val="0F3A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8173FF57-1981-8AE5-AF9D-2941D334D99C}"/>
                </a:ext>
              </a:extLst>
            </p:cNvPr>
            <p:cNvSpPr txBox="1"/>
            <p:nvPr/>
          </p:nvSpPr>
          <p:spPr>
            <a:xfrm>
              <a:off x="350520" y="3595779"/>
              <a:ext cx="5486400" cy="452281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l"/>
              <a:r>
                <a:rPr sz="2000" b="1" i="0">
                  <a:solidFill>
                    <a:srgbClr val="76B900"/>
                  </a:solidFill>
                </a:rPr>
                <a:t>PDN Model</a:t>
              </a:r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D3E1DF80-9561-4965-7360-147F4318E574}"/>
                </a:ext>
              </a:extLst>
            </p:cNvPr>
            <p:cNvSpPr txBox="1"/>
            <p:nvPr/>
          </p:nvSpPr>
          <p:spPr>
            <a:xfrm>
              <a:off x="345093" y="3988970"/>
              <a:ext cx="5703725" cy="1633501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sz="1200" b="0" i="0">
                  <a:solidFill>
                    <a:srgbClr val="FFFFFF"/>
                  </a:solidFill>
                </a:rPr>
                <a:t>2nd-order RLC circuit</a:t>
              </a:r>
              <a:endParaRPr lang="en-US" sz="1200" b="0" i="0">
                <a:solidFill>
                  <a:srgbClr val="FFFFFF"/>
                </a:solidFill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FFFFFF"/>
                  </a:solidFill>
                </a:rPr>
                <a:t>Calculates </a:t>
              </a:r>
              <a:r>
                <a:rPr lang="en-US" sz="1200" err="1">
                  <a:solidFill>
                    <a:srgbClr val="FFFFFF"/>
                  </a:solidFill>
                </a:rPr>
                <a:t>I_instant</a:t>
              </a:r>
              <a:r>
                <a:rPr lang="en-US" sz="1200">
                  <a:solidFill>
                    <a:srgbClr val="FFFFFF"/>
                  </a:solidFill>
                </a:rPr>
                <a:t> and </a:t>
              </a:r>
              <a:r>
                <a:rPr lang="en-US" sz="1200" err="1">
                  <a:solidFill>
                    <a:srgbClr val="FFFFFF"/>
                  </a:solidFill>
                </a:rPr>
                <a:t>I_steady</a:t>
              </a:r>
              <a:r>
                <a:rPr lang="en-US" sz="1200">
                  <a:solidFill>
                    <a:srgbClr val="FFFFFF"/>
                  </a:solidFill>
                </a:rPr>
                <a:t> to get </a:t>
              </a:r>
              <a:r>
                <a:rPr lang="en-US" sz="1200" err="1">
                  <a:solidFill>
                    <a:srgbClr val="FFFFFF"/>
                  </a:solidFill>
                </a:rPr>
                <a:t>V_ac</a:t>
              </a:r>
              <a:r>
                <a:rPr lang="en-US" sz="1200">
                  <a:solidFill>
                    <a:srgbClr val="FFFFFF"/>
                  </a:solidFill>
                </a:rPr>
                <a:t> and </a:t>
              </a:r>
              <a:r>
                <a:rPr lang="en-US" sz="1200" err="1">
                  <a:solidFill>
                    <a:srgbClr val="FFFFFF"/>
                  </a:solidFill>
                </a:rPr>
                <a:t>V_dc</a:t>
              </a:r>
              <a:endParaRPr lang="en-US" sz="1200">
                <a:solidFill>
                  <a:srgbClr val="FFFFFF"/>
                </a:solidFill>
              </a:endParaRPr>
            </a:p>
            <a:p>
              <a:pPr marL="7429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FFFFFF"/>
                  </a:solidFill>
                </a:rPr>
                <a:t>Splits current with IIR filter (</a:t>
              </a:r>
              <a:r>
                <a:rPr lang="el-GR" sz="1200">
                  <a:solidFill>
                    <a:srgbClr val="FFFFFF"/>
                  </a:solidFill>
                </a:rPr>
                <a:t>τ_</a:t>
              </a:r>
              <a:r>
                <a:rPr lang="en-US" sz="1200">
                  <a:solidFill>
                    <a:srgbClr val="FFFFFF"/>
                  </a:solidFill>
                </a:rPr>
                <a:t>env = 50 </a:t>
              </a:r>
              <a:r>
                <a:rPr lang="en-US" sz="1200" err="1">
                  <a:solidFill>
                    <a:srgbClr val="FFFFFF"/>
                  </a:solidFill>
                </a:rPr>
                <a:t>ms</a:t>
              </a:r>
              <a:r>
                <a:rPr lang="en-US" sz="1200">
                  <a:solidFill>
                    <a:srgbClr val="FFFFFF"/>
                  </a:solidFill>
                </a:rPr>
                <a:t>)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FFFFFF"/>
                  </a:solidFill>
                </a:rPr>
                <a:t>Computes worst-case peak droop per tick (first trough)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endParaRPr sz="1200" b="0" i="0">
                <a:solidFill>
                  <a:srgbClr val="FFFFFF"/>
                </a:solidFill>
              </a:endParaRP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8ADB1BAE-13C7-8654-64F0-8F606FEAAD5C}"/>
              </a:ext>
            </a:extLst>
          </p:cNvPr>
          <p:cNvGrpSpPr/>
          <p:nvPr/>
        </p:nvGrpSpPr>
        <p:grpSpPr>
          <a:xfrm>
            <a:off x="212034" y="3751095"/>
            <a:ext cx="5117991" cy="1928855"/>
            <a:chOff x="6175513" y="3545686"/>
            <a:chExt cx="5760720" cy="1948733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AA41B684-84A3-9D39-B0DE-9A209D0B1DA5}"/>
                </a:ext>
              </a:extLst>
            </p:cNvPr>
            <p:cNvSpPr/>
            <p:nvPr/>
          </p:nvSpPr>
          <p:spPr>
            <a:xfrm>
              <a:off x="6175513" y="3545686"/>
              <a:ext cx="5760720" cy="1948733"/>
            </a:xfrm>
            <a:prstGeom prst="rect">
              <a:avLst/>
            </a:prstGeom>
            <a:solidFill>
              <a:srgbClr val="0F3A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6486A5C8-6409-98FE-111D-09603C81611B}"/>
                </a:ext>
              </a:extLst>
            </p:cNvPr>
            <p:cNvSpPr txBox="1"/>
            <p:nvPr/>
          </p:nvSpPr>
          <p:spPr>
            <a:xfrm>
              <a:off x="6385561" y="3595779"/>
              <a:ext cx="5486400" cy="404233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l"/>
              <a:r>
                <a:rPr sz="2000" b="1" i="0">
                  <a:solidFill>
                    <a:srgbClr val="76B900"/>
                  </a:solidFill>
                </a:rPr>
                <a:t>Controller</a:t>
              </a:r>
            </a:p>
          </p:txBody>
        </p:sp>
        <p:sp>
          <p:nvSpPr>
            <p:cNvPr id="46" name="TextBox 45">
              <a:extLst>
                <a:ext uri="{FF2B5EF4-FFF2-40B4-BE49-F238E27FC236}">
                  <a16:creationId xmlns:a16="http://schemas.microsoft.com/office/drawing/2014/main" id="{ECC200D7-8FB1-5DC7-FB9F-9B1168DADB37}"/>
                </a:ext>
              </a:extLst>
            </p:cNvPr>
            <p:cNvSpPr txBox="1"/>
            <p:nvPr/>
          </p:nvSpPr>
          <p:spPr>
            <a:xfrm>
              <a:off x="6431281" y="3988971"/>
              <a:ext cx="5440680" cy="1208857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marL="285750" indent="-285750" algn="l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200" b="0" i="0">
                  <a:solidFill>
                    <a:srgbClr val="FFFFFF"/>
                  </a:solidFill>
                </a:rPr>
                <a:t>Bang-bang controller around </a:t>
              </a:r>
              <a:r>
                <a:rPr lang="en-US" sz="1200" b="0" i="0" err="1">
                  <a:solidFill>
                    <a:srgbClr val="FFFFFF"/>
                  </a:solidFill>
                </a:rPr>
                <a:t>V_shrink</a:t>
              </a:r>
              <a:endParaRPr lang="en-US" sz="1200" b="0" i="0">
                <a:solidFill>
                  <a:srgbClr val="FFFFFF"/>
                </a:solidFill>
              </a:endParaRPr>
            </a:p>
            <a:p>
              <a:pPr marL="742950" lvl="1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200" err="1">
                  <a:solidFill>
                    <a:srgbClr val="FFFFFF"/>
                  </a:solidFill>
                </a:rPr>
                <a:t>V_shrink</a:t>
              </a:r>
              <a:r>
                <a:rPr lang="en-US" sz="1200">
                  <a:solidFill>
                    <a:srgbClr val="FFFFFF"/>
                  </a:solidFill>
                </a:rPr>
                <a:t> = </a:t>
              </a:r>
              <a:r>
                <a:rPr lang="en-US" sz="1200" err="1">
                  <a:solidFill>
                    <a:srgbClr val="FFFFFF"/>
                  </a:solidFill>
                </a:rPr>
                <a:t>V_safe</a:t>
              </a:r>
              <a:r>
                <a:rPr lang="en-US" sz="1200">
                  <a:solidFill>
                    <a:srgbClr val="FFFFFF"/>
                  </a:solidFill>
                </a:rPr>
                <a:t> - </a:t>
              </a:r>
              <a:r>
                <a:rPr lang="en-US" sz="1200" err="1">
                  <a:solidFill>
                    <a:srgbClr val="FFFFFF"/>
                  </a:solidFill>
                </a:rPr>
                <a:t>deadband_mv</a:t>
              </a:r>
              <a:endParaRPr lang="en-US" sz="1200" b="0" i="0">
                <a:solidFill>
                  <a:srgbClr val="FFFFFF"/>
                </a:solidFill>
              </a:endParaRP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FFFFFF"/>
                  </a:solidFill>
                </a:rPr>
                <a:t>Auto-tune M grow/shrink step to not exceed </a:t>
              </a:r>
              <a:r>
                <a:rPr lang="en-US" sz="1200" err="1">
                  <a:solidFill>
                    <a:srgbClr val="FFFFFF"/>
                  </a:solidFill>
                </a:rPr>
                <a:t>V_ac</a:t>
              </a:r>
              <a:r>
                <a:rPr lang="en-US" sz="1200">
                  <a:solidFill>
                    <a:srgbClr val="FFFFFF"/>
                  </a:solidFill>
                </a:rPr>
                <a:t> budget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1200">
                  <a:solidFill>
                    <a:srgbClr val="FFFFFF"/>
                  </a:solidFill>
                </a:rPr>
                <a:t>Controller grow period &gt; </a:t>
              </a:r>
              <a:r>
                <a:rPr lang="el-GR" sz="1200">
                  <a:solidFill>
                    <a:srgbClr val="FFFFFF"/>
                  </a:solidFill>
                </a:rPr>
                <a:t>τ_</a:t>
              </a:r>
              <a:r>
                <a:rPr lang="en-US" sz="1200">
                  <a:solidFill>
                    <a:srgbClr val="FFFFFF"/>
                  </a:solidFill>
                </a:rPr>
                <a:t>env to allow ripples to dissipate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6C11DB7-1A42-5BB4-22EC-3B82C943F960}"/>
              </a:ext>
            </a:extLst>
          </p:cNvPr>
          <p:cNvGrpSpPr/>
          <p:nvPr/>
        </p:nvGrpSpPr>
        <p:grpSpPr>
          <a:xfrm>
            <a:off x="6278072" y="5796568"/>
            <a:ext cx="5531564" cy="739804"/>
            <a:chOff x="6941795" y="5677298"/>
            <a:chExt cx="6679211" cy="739804"/>
          </a:xfrm>
        </p:grpSpPr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69B1E6BB-3657-873C-9013-836663E316C2}"/>
                </a:ext>
              </a:extLst>
            </p:cNvPr>
            <p:cNvSpPr/>
            <p:nvPr/>
          </p:nvSpPr>
          <p:spPr>
            <a:xfrm>
              <a:off x="6941795" y="5677298"/>
              <a:ext cx="6679211" cy="739804"/>
            </a:xfrm>
            <a:prstGeom prst="rect">
              <a:avLst/>
            </a:prstGeom>
            <a:solidFill>
              <a:srgbClr val="0F3A60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2ED71E6C-94DE-2773-744C-BCF9A1A16C00}"/>
                </a:ext>
              </a:extLst>
            </p:cNvPr>
            <p:cNvSpPr txBox="1"/>
            <p:nvPr/>
          </p:nvSpPr>
          <p:spPr>
            <a:xfrm>
              <a:off x="7014777" y="5739527"/>
              <a:ext cx="6531870" cy="584775"/>
            </a:xfrm>
            <a:prstGeom prst="rect">
              <a:avLst/>
            </a:prstGeom>
            <a:noFill/>
          </p:spPr>
          <p:txBody>
            <a:bodyPr wrap="square" lIns="91440" tIns="45720" rIns="91440" bIns="45720" anchor="t">
              <a:spAutoFit/>
            </a:bodyPr>
            <a:lstStyle/>
            <a:p>
              <a:pPr algn="ctr"/>
              <a:r>
                <a:rPr sz="1600" b="1" i="0">
                  <a:solidFill>
                    <a:srgbClr val="FF9900"/>
                  </a:solidFill>
                </a:rPr>
                <a:t>  PDN natural </a:t>
              </a:r>
              <a:r>
                <a:rPr sz="1600" b="1" i="0" err="1">
                  <a:solidFill>
                    <a:srgbClr val="FF9900"/>
                  </a:solidFill>
                </a:rPr>
                <a:t>freq</a:t>
              </a:r>
              <a:r>
                <a:rPr sz="1600" b="1" i="0">
                  <a:solidFill>
                    <a:srgbClr val="FF9900"/>
                  </a:solidFill>
                </a:rPr>
                <a:t> ≈ 41 kHz (L=15 </a:t>
              </a:r>
              <a:r>
                <a:rPr sz="1600" b="1" i="0" err="1">
                  <a:solidFill>
                    <a:srgbClr val="FF9900"/>
                  </a:solidFill>
                </a:rPr>
                <a:t>nH</a:t>
              </a:r>
              <a:r>
                <a:rPr sz="1600" b="1" i="0">
                  <a:solidFill>
                    <a:srgbClr val="FF9900"/>
                  </a:solidFill>
                </a:rPr>
                <a:t>, C=1 mF)   |   Controller tick = 50</a:t>
              </a:r>
              <a:r>
                <a:rPr lang="en-US" sz="1600">
                  <a:solidFill>
                    <a:srgbClr val="FFFFFF"/>
                  </a:solidFill>
                </a:rPr>
                <a:t> </a:t>
              </a:r>
              <a:r>
                <a:rPr lang="en-US" sz="1600" b="1">
                  <a:solidFill>
                    <a:srgbClr val="FF9900"/>
                  </a:solidFill>
                </a:rPr>
                <a:t>µs </a:t>
              </a:r>
              <a:endParaRPr sz="1600" b="1">
                <a:solidFill>
                  <a:srgbClr val="FF9900"/>
                </a:solidFill>
              </a:endParaRPr>
            </a:p>
          </p:txBody>
        </p:sp>
      </p:grp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6AEE71D7-DF9B-8BED-273A-D1CFB5799E4A}"/>
              </a:ext>
            </a:extLst>
          </p:cNvPr>
          <p:cNvCxnSpPr/>
          <p:nvPr/>
        </p:nvCxnSpPr>
        <p:spPr>
          <a:xfrm>
            <a:off x="5325271" y="1883019"/>
            <a:ext cx="966771" cy="8027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C73F884-5CAA-D81B-B0E1-9923A874361C}"/>
              </a:ext>
            </a:extLst>
          </p:cNvPr>
          <p:cNvCxnSpPr>
            <a:cxnSpLocks/>
          </p:cNvCxnSpPr>
          <p:nvPr/>
        </p:nvCxnSpPr>
        <p:spPr>
          <a:xfrm>
            <a:off x="8976243" y="2850428"/>
            <a:ext cx="12615" cy="90254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0162BEEA-07F2-E2CF-E6DD-6C54648CCF6E}"/>
              </a:ext>
            </a:extLst>
          </p:cNvPr>
          <p:cNvCxnSpPr>
            <a:cxnSpLocks/>
          </p:cNvCxnSpPr>
          <p:nvPr/>
        </p:nvCxnSpPr>
        <p:spPr>
          <a:xfrm flipH="1" flipV="1">
            <a:off x="5304756" y="4760141"/>
            <a:ext cx="974671" cy="52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6D177BC-1381-5625-C40D-CEFF099C09E9}"/>
              </a:ext>
            </a:extLst>
          </p:cNvPr>
          <p:cNvCxnSpPr>
            <a:cxnSpLocks/>
          </p:cNvCxnSpPr>
          <p:nvPr/>
        </p:nvCxnSpPr>
        <p:spPr>
          <a:xfrm flipH="1" flipV="1">
            <a:off x="2687450" y="2851828"/>
            <a:ext cx="637" cy="89312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EAAED1B2-CB24-9FE8-6FA3-9154188B9020}"/>
              </a:ext>
            </a:extLst>
          </p:cNvPr>
          <p:cNvSpPr txBox="1"/>
          <p:nvPr/>
        </p:nvSpPr>
        <p:spPr>
          <a:xfrm>
            <a:off x="5631600" y="1450667"/>
            <a:ext cx="31805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/>
              <a:t>1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29F5FC8-C529-88E6-412B-745D0C10F569}"/>
              </a:ext>
            </a:extLst>
          </p:cNvPr>
          <p:cNvSpPr txBox="1"/>
          <p:nvPr/>
        </p:nvSpPr>
        <p:spPr>
          <a:xfrm>
            <a:off x="8566956" y="3034301"/>
            <a:ext cx="31805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/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499C5C2-BF9F-8033-22DF-6F856AFDC7C5}"/>
              </a:ext>
            </a:extLst>
          </p:cNvPr>
          <p:cNvSpPr txBox="1"/>
          <p:nvPr/>
        </p:nvSpPr>
        <p:spPr>
          <a:xfrm>
            <a:off x="5651477" y="4319762"/>
            <a:ext cx="31805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/>
              <a:t>3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E86EB5C-90A3-A14E-67E6-C8C4A8AB68D5}"/>
              </a:ext>
            </a:extLst>
          </p:cNvPr>
          <p:cNvSpPr txBox="1"/>
          <p:nvPr/>
        </p:nvSpPr>
        <p:spPr>
          <a:xfrm>
            <a:off x="2729374" y="3160197"/>
            <a:ext cx="318053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000" b="1"/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31454819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85"/>
    </mc:Choice>
    <mc:Fallback xmlns="">
      <p:transition spd="slow" advTm="3285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A497C-375A-6A0D-6FE9-F8D3CA4CE9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1510" y="161544"/>
            <a:ext cx="10706100" cy="683912"/>
          </a:xfrm>
        </p:spPr>
        <p:txBody>
          <a:bodyPr/>
          <a:lstStyle/>
          <a:p>
            <a:pPr algn="ctr"/>
            <a:r>
              <a:rPr lang="en-US"/>
              <a:t>How the controller works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1DE88AE-649A-99D0-FF47-40A0DB7AC0B4}"/>
              </a:ext>
            </a:extLst>
          </p:cNvPr>
          <p:cNvSpPr/>
          <p:nvPr/>
        </p:nvSpPr>
        <p:spPr>
          <a:xfrm>
            <a:off x="152400" y="845456"/>
            <a:ext cx="3749039" cy="5349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1092C7-65F5-D36A-8785-905A797E6CE3}"/>
              </a:ext>
            </a:extLst>
          </p:cNvPr>
          <p:cNvSpPr txBox="1"/>
          <p:nvPr/>
        </p:nvSpPr>
        <p:spPr>
          <a:xfrm>
            <a:off x="289560" y="909464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/>
              <a:t>Three Phases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54A34D9-F027-43CD-914F-73A145C0C06E}"/>
              </a:ext>
            </a:extLst>
          </p:cNvPr>
          <p:cNvSpPr txBox="1"/>
          <p:nvPr/>
        </p:nvSpPr>
        <p:spPr>
          <a:xfrm>
            <a:off x="289560" y="1348376"/>
            <a:ext cx="3474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/>
              <a:t>Phase 1 — NVML Calibration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A26A96A-1C24-77CA-1CF8-77F953C4AC66}"/>
              </a:ext>
            </a:extLst>
          </p:cNvPr>
          <p:cNvSpPr txBox="1"/>
          <p:nvPr/>
        </p:nvSpPr>
        <p:spPr>
          <a:xfrm>
            <a:off x="289560" y="1695847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• Run kernel at </a:t>
            </a:r>
            <a:r>
              <a:rPr sz="1100" b="0" i="0" err="1">
                <a:solidFill>
                  <a:srgbClr val="FFFFFF"/>
                </a:solidFill>
              </a:rPr>
              <a:t>M_min</a:t>
            </a:r>
            <a:r>
              <a:rPr sz="1100" b="0" i="0">
                <a:solidFill>
                  <a:srgbClr val="FFFFFF"/>
                </a:solidFill>
              </a:rPr>
              <a:t> and </a:t>
            </a:r>
            <a:r>
              <a:rPr sz="1100" b="0" i="0" err="1">
                <a:solidFill>
                  <a:srgbClr val="FFFFFF"/>
                </a:solidFill>
              </a:rPr>
              <a:t>M_max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03F933B-C01C-02D1-0C88-4A9CE82BFB57}"/>
              </a:ext>
            </a:extLst>
          </p:cNvPr>
          <p:cNvSpPr txBox="1"/>
          <p:nvPr/>
        </p:nvSpPr>
        <p:spPr>
          <a:xfrm>
            <a:off x="289560" y="1988455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• NVML ring buffer drained for each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C25E014-DAF9-6141-141F-7CF7543E561A}"/>
              </a:ext>
            </a:extLst>
          </p:cNvPr>
          <p:cNvSpPr txBox="1"/>
          <p:nvPr/>
        </p:nvSpPr>
        <p:spPr>
          <a:xfrm>
            <a:off x="289560" y="2281063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• Measure mean P_idle, P_full, and σ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0CC2DB-D65A-3981-FFB8-3289125CC33A}"/>
              </a:ext>
            </a:extLst>
          </p:cNvPr>
          <p:cNvSpPr txBox="1"/>
          <p:nvPr/>
        </p:nvSpPr>
        <p:spPr>
          <a:xfrm>
            <a:off x="289560" y="2573671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• Derive V_safe, V_shrink, grow_step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9DD1A81-2E8F-29F2-563A-A47CAE44C616}"/>
              </a:ext>
            </a:extLst>
          </p:cNvPr>
          <p:cNvSpPr txBox="1"/>
          <p:nvPr/>
        </p:nvSpPr>
        <p:spPr>
          <a:xfrm>
            <a:off x="289560" y="3003439"/>
            <a:ext cx="3474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/>
              <a:t>Phase 2 — Ramp Warm-up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6E3D7D7-E0ED-0975-462A-70FD204D8365}"/>
              </a:ext>
            </a:extLst>
          </p:cNvPr>
          <p:cNvSpPr txBox="1"/>
          <p:nvPr/>
        </p:nvSpPr>
        <p:spPr>
          <a:xfrm>
            <a:off x="289560" y="3350911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• Linearly ramp M: M_min → M_max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C8BC75-7CC6-A518-3441-D5A4C0EE5B13}"/>
              </a:ext>
            </a:extLst>
          </p:cNvPr>
          <p:cNvSpPr txBox="1"/>
          <p:nvPr/>
        </p:nvSpPr>
        <p:spPr>
          <a:xfrm>
            <a:off x="289560" y="3643519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• Controller observes only — no throttle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3E5FD36-C312-1015-40E8-0D473C5F6EAF}"/>
              </a:ext>
            </a:extLst>
          </p:cNvPr>
          <p:cNvSpPr txBox="1"/>
          <p:nvPr/>
        </p:nvSpPr>
        <p:spPr>
          <a:xfrm>
            <a:off x="289560" y="3936128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• GPU reaches steady-state performance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E90C194-2699-B8A9-02B6-DAF8C8B43DC0}"/>
              </a:ext>
            </a:extLst>
          </p:cNvPr>
          <p:cNvSpPr txBox="1"/>
          <p:nvPr/>
        </p:nvSpPr>
        <p:spPr>
          <a:xfrm>
            <a:off x="289560" y="422873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• PDN model pre-charged to avoid startup spike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3C3C2E-80A4-E569-2027-E91229529668}"/>
              </a:ext>
            </a:extLst>
          </p:cNvPr>
          <p:cNvSpPr txBox="1"/>
          <p:nvPr/>
        </p:nvSpPr>
        <p:spPr>
          <a:xfrm>
            <a:off x="289560" y="4658504"/>
            <a:ext cx="347472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/>
              <a:t>Phase 3 — Closed-Loop Control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18EF717-2E9B-E61D-A4E2-14B160AF13E6}"/>
              </a:ext>
            </a:extLst>
          </p:cNvPr>
          <p:cNvSpPr txBox="1"/>
          <p:nvPr/>
        </p:nvSpPr>
        <p:spPr>
          <a:xfrm>
            <a:off x="289560" y="5005976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• 50 µs tick loop starts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30F08AD-2A84-54F4-EEB4-BA226DB5C84B}"/>
              </a:ext>
            </a:extLst>
          </p:cNvPr>
          <p:cNvSpPr txBox="1"/>
          <p:nvPr/>
        </p:nvSpPr>
        <p:spPr>
          <a:xfrm>
            <a:off x="289560" y="5298584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• Each tick: PDN → V_load → decision → new M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7F7621C0-E422-AAFA-4A3C-5F68945DB02B}"/>
              </a:ext>
            </a:extLst>
          </p:cNvPr>
          <p:cNvSpPr txBox="1"/>
          <p:nvPr/>
        </p:nvSpPr>
        <p:spPr>
          <a:xfrm>
            <a:off x="289560" y="5591192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• Shrink / grow / hold based on V_shrink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78F01D1-DD8E-7E2C-135F-3E80EC838EBC}"/>
              </a:ext>
            </a:extLst>
          </p:cNvPr>
          <p:cNvSpPr txBox="1"/>
          <p:nvPr/>
        </p:nvSpPr>
        <p:spPr>
          <a:xfrm>
            <a:off x="289560" y="5883800"/>
            <a:ext cx="3474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  • Records events and telemetry throughout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0788FCF-7223-6CD2-A34F-2BB02BA70622}"/>
              </a:ext>
            </a:extLst>
          </p:cNvPr>
          <p:cNvSpPr/>
          <p:nvPr/>
        </p:nvSpPr>
        <p:spPr>
          <a:xfrm>
            <a:off x="4130040" y="845456"/>
            <a:ext cx="3931920" cy="53492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581D9AAA-63A1-61F8-CBB3-60D0BAD18D3D}"/>
              </a:ext>
            </a:extLst>
          </p:cNvPr>
          <p:cNvSpPr txBox="1"/>
          <p:nvPr/>
        </p:nvSpPr>
        <p:spPr>
          <a:xfrm>
            <a:off x="4267200" y="909464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76B900"/>
                </a:solidFill>
              </a:rPr>
              <a:t>Per-Tick Decision (50 µs)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AC7C64CE-7C74-D112-51AF-3572DC3AC72B}"/>
              </a:ext>
            </a:extLst>
          </p:cNvPr>
          <p:cNvSpPr/>
          <p:nvPr/>
        </p:nvSpPr>
        <p:spPr>
          <a:xfrm>
            <a:off x="4194048" y="1366664"/>
            <a:ext cx="292608" cy="25603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4B6CA05-5916-5F23-3A52-85A7091558CB}"/>
              </a:ext>
            </a:extLst>
          </p:cNvPr>
          <p:cNvSpPr txBox="1"/>
          <p:nvPr/>
        </p:nvSpPr>
        <p:spPr>
          <a:xfrm>
            <a:off x="4194048" y="1366664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1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20C0CF2-B64A-FFE9-1709-A9F01BBF7DED}"/>
              </a:ext>
            </a:extLst>
          </p:cNvPr>
          <p:cNvSpPr txBox="1"/>
          <p:nvPr/>
        </p:nvSpPr>
        <p:spPr>
          <a:xfrm>
            <a:off x="4523232" y="1366664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p_dc = load_power(M)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3E543A85-4B81-488B-B5AC-2801DA7353C0}"/>
              </a:ext>
            </a:extLst>
          </p:cNvPr>
          <p:cNvSpPr txBox="1"/>
          <p:nvPr/>
        </p:nvSpPr>
        <p:spPr>
          <a:xfrm>
            <a:off x="4523232" y="1640983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Linear interpolation P_idle→P_full at current M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BC322A8-F762-13FA-0568-B7668EAB035C}"/>
              </a:ext>
            </a:extLst>
          </p:cNvPr>
          <p:cNvSpPr/>
          <p:nvPr/>
        </p:nvSpPr>
        <p:spPr>
          <a:xfrm>
            <a:off x="4194048" y="1933591"/>
            <a:ext cx="292608" cy="25603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FE83712-1C0C-2B4D-96D3-23D7220608CB}"/>
              </a:ext>
            </a:extLst>
          </p:cNvPr>
          <p:cNvSpPr txBox="1"/>
          <p:nvPr/>
        </p:nvSpPr>
        <p:spPr>
          <a:xfrm>
            <a:off x="4194048" y="1933591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2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1A8E097D-0A2E-07D1-88AB-1249757FF196}"/>
              </a:ext>
            </a:extLst>
          </p:cNvPr>
          <p:cNvSpPr txBox="1"/>
          <p:nvPr/>
        </p:nvSpPr>
        <p:spPr>
          <a:xfrm>
            <a:off x="4523232" y="1933591"/>
            <a:ext cx="3429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err="1">
                <a:solidFill>
                  <a:schemeClr val="bg1"/>
                </a:solidFill>
              </a:rPr>
              <a:t>p_drive</a:t>
            </a:r>
            <a:r>
              <a:rPr sz="1100" b="1" i="0">
                <a:solidFill>
                  <a:schemeClr val="bg1"/>
                </a:solidFill>
              </a:rPr>
              <a:t> = </a:t>
            </a:r>
            <a:r>
              <a:rPr sz="1100" b="1" i="0" err="1">
                <a:solidFill>
                  <a:schemeClr val="bg1"/>
                </a:solidFill>
              </a:rPr>
              <a:t>p_dc</a:t>
            </a:r>
            <a:r>
              <a:rPr sz="1100" b="1" i="0">
                <a:solidFill>
                  <a:schemeClr val="bg1"/>
                </a:solidFill>
              </a:rPr>
              <a:t> + noise(σ)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08907CE-519A-BB22-D56D-CEB9914DF683}"/>
              </a:ext>
            </a:extLst>
          </p:cNvPr>
          <p:cNvSpPr txBox="1"/>
          <p:nvPr/>
        </p:nvSpPr>
        <p:spPr>
          <a:xfrm>
            <a:off x="4523232" y="2207911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Add NVML-calibrated jitter (seeded RNG)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5B44EA9F-4132-273A-628F-8B98B733AAB6}"/>
              </a:ext>
            </a:extLst>
          </p:cNvPr>
          <p:cNvSpPr/>
          <p:nvPr/>
        </p:nvSpPr>
        <p:spPr>
          <a:xfrm>
            <a:off x="4194048" y="2500519"/>
            <a:ext cx="292608" cy="25603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8F802BD9-B374-A38A-244C-2BC25E0C574A}"/>
              </a:ext>
            </a:extLst>
          </p:cNvPr>
          <p:cNvSpPr txBox="1"/>
          <p:nvPr/>
        </p:nvSpPr>
        <p:spPr>
          <a:xfrm>
            <a:off x="4194048" y="2500519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3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5EF69CFA-3DBA-274E-AC65-DECCDE9F5935}"/>
              </a:ext>
            </a:extLst>
          </p:cNvPr>
          <p:cNvSpPr txBox="1"/>
          <p:nvPr/>
        </p:nvSpPr>
        <p:spPr>
          <a:xfrm>
            <a:off x="4523232" y="2500519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V_load = PDN.step(p_drive, dt)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E054B1A0-BDA1-5FF3-60A8-4DC88DF73C2C}"/>
              </a:ext>
            </a:extLst>
          </p:cNvPr>
          <p:cNvSpPr txBox="1"/>
          <p:nvPr/>
        </p:nvSpPr>
        <p:spPr>
          <a:xfrm>
            <a:off x="4523232" y="2774839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RLC model: V_nom − I_filt·R − ΔI·Z_LC·overshoot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6F7DC613-F877-BB12-BCE4-BED133DD3062}"/>
              </a:ext>
            </a:extLst>
          </p:cNvPr>
          <p:cNvSpPr/>
          <p:nvPr/>
        </p:nvSpPr>
        <p:spPr>
          <a:xfrm>
            <a:off x="4194048" y="3067447"/>
            <a:ext cx="292608" cy="25603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1C79448-8596-7D42-AEBA-C0216BE611BB}"/>
              </a:ext>
            </a:extLst>
          </p:cNvPr>
          <p:cNvSpPr txBox="1"/>
          <p:nvPr/>
        </p:nvSpPr>
        <p:spPr>
          <a:xfrm>
            <a:off x="4194048" y="3067447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4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3F10B51-B7DC-A4C0-59F5-48F1075B87E1}"/>
              </a:ext>
            </a:extLst>
          </p:cNvPr>
          <p:cNvSpPr txBox="1"/>
          <p:nvPr/>
        </p:nvSpPr>
        <p:spPr>
          <a:xfrm>
            <a:off x="4523232" y="3067447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9900"/>
                </a:solidFill>
              </a:rPr>
              <a:t>V_load &lt; V_shrink?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784388E8-5329-5EA4-DC41-4B2EEC342C59}"/>
              </a:ext>
            </a:extLst>
          </p:cNvPr>
          <p:cNvSpPr txBox="1"/>
          <p:nvPr/>
        </p:nvSpPr>
        <p:spPr>
          <a:xfrm>
            <a:off x="4523232" y="3341767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Compare against V_safe − deadband threshold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A6E148CE-9B86-2221-14CF-D8F28A65C145}"/>
              </a:ext>
            </a:extLst>
          </p:cNvPr>
          <p:cNvSpPr/>
          <p:nvPr/>
        </p:nvSpPr>
        <p:spPr>
          <a:xfrm>
            <a:off x="4194048" y="3634375"/>
            <a:ext cx="292608" cy="25603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D28C4937-CFE2-A411-8621-AE8C112C4B59}"/>
              </a:ext>
            </a:extLst>
          </p:cNvPr>
          <p:cNvSpPr txBox="1"/>
          <p:nvPr/>
        </p:nvSpPr>
        <p:spPr>
          <a:xfrm>
            <a:off x="4194048" y="3634375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5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165A8CF-1A4C-8B9E-2435-1D8187883BE4}"/>
              </a:ext>
            </a:extLst>
          </p:cNvPr>
          <p:cNvSpPr txBox="1"/>
          <p:nvPr/>
        </p:nvSpPr>
        <p:spPr>
          <a:xfrm>
            <a:off x="4523232" y="3634375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E04040"/>
                </a:solidFill>
              </a:rPr>
              <a:t>SHRINK: M − </a:t>
            </a:r>
            <a:r>
              <a:rPr sz="1100" b="1" i="0" err="1">
                <a:solidFill>
                  <a:srgbClr val="E04040"/>
                </a:solidFill>
              </a:rPr>
              <a:t>shrink_step</a:t>
            </a:r>
            <a:endParaRPr sz="1100" b="1" i="0">
              <a:solidFill>
                <a:srgbClr val="E0404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CA1E52D-5ABF-90D6-C9F1-5DDB2E3D569E}"/>
              </a:ext>
            </a:extLst>
          </p:cNvPr>
          <p:cNvSpPr txBox="1"/>
          <p:nvPr/>
        </p:nvSpPr>
        <p:spPr>
          <a:xfrm>
            <a:off x="4523232" y="3908695"/>
            <a:ext cx="3429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If yes AND </a:t>
            </a:r>
            <a:r>
              <a:rPr lang="en-US" sz="1000" b="0" i="1">
                <a:solidFill>
                  <a:srgbClr val="CCCCCC"/>
                </a:solidFill>
              </a:rPr>
              <a:t>reset time </a:t>
            </a:r>
            <a:r>
              <a:rPr sz="1000" b="0" i="1">
                <a:solidFill>
                  <a:srgbClr val="CCCCCC"/>
                </a:solidFill>
              </a:rPr>
              <a:t>elapsed since last shrink</a:t>
            </a:r>
            <a:r>
              <a:rPr lang="en-US" sz="1000" b="0" i="1">
                <a:solidFill>
                  <a:srgbClr val="CCCCCC"/>
                </a:solidFill>
              </a:rPr>
              <a:t>. Increase grow delay</a:t>
            </a:r>
            <a:endParaRPr sz="1000" b="0" i="1">
              <a:solidFill>
                <a:srgbClr val="CCCCCC"/>
              </a:solidFill>
            </a:endParaRP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498BBCD5-2C44-22BE-0009-FFBA6CA500E1}"/>
              </a:ext>
            </a:extLst>
          </p:cNvPr>
          <p:cNvSpPr/>
          <p:nvPr/>
        </p:nvSpPr>
        <p:spPr>
          <a:xfrm>
            <a:off x="4194048" y="4325867"/>
            <a:ext cx="292608" cy="25603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22B3E24-9E16-1794-D732-93E6B9AE4A7B}"/>
              </a:ext>
            </a:extLst>
          </p:cNvPr>
          <p:cNvSpPr txBox="1"/>
          <p:nvPr/>
        </p:nvSpPr>
        <p:spPr>
          <a:xfrm>
            <a:off x="4194048" y="4325867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6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677B2AF-4CF0-736B-2455-D5B098F8820C}"/>
              </a:ext>
            </a:extLst>
          </p:cNvPr>
          <p:cNvSpPr txBox="1"/>
          <p:nvPr/>
        </p:nvSpPr>
        <p:spPr>
          <a:xfrm>
            <a:off x="4523232" y="4325867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76FF76"/>
                </a:solidFill>
              </a:rPr>
              <a:t>GROW:   M + grow_step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8E580744-A302-EA1D-B205-0F5D92849FFF}"/>
              </a:ext>
            </a:extLst>
          </p:cNvPr>
          <p:cNvSpPr txBox="1"/>
          <p:nvPr/>
        </p:nvSpPr>
        <p:spPr>
          <a:xfrm>
            <a:off x="4523232" y="4600186"/>
            <a:ext cx="3429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1">
                <a:solidFill>
                  <a:srgbClr val="CCCCCC"/>
                </a:solidFill>
              </a:rPr>
              <a:t>If no AND </a:t>
            </a:r>
            <a:r>
              <a:rPr lang="en-US" sz="1000" i="1">
                <a:solidFill>
                  <a:srgbClr val="CCCCCC"/>
                </a:solidFill>
              </a:rPr>
              <a:t>reset time elapsed since last grow</a:t>
            </a:r>
            <a:endParaRPr sz="1000" b="0" i="1">
              <a:solidFill>
                <a:srgbClr val="CCCCCC"/>
              </a:solidFill>
            </a:endParaRP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28799B7-6BE7-B479-C10B-B91FB2D4435D}"/>
              </a:ext>
            </a:extLst>
          </p:cNvPr>
          <p:cNvSpPr/>
          <p:nvPr/>
        </p:nvSpPr>
        <p:spPr>
          <a:xfrm>
            <a:off x="4194048" y="4892795"/>
            <a:ext cx="292608" cy="25603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E84A050-5C20-4420-5DD9-A91185BFFA3D}"/>
              </a:ext>
            </a:extLst>
          </p:cNvPr>
          <p:cNvSpPr txBox="1"/>
          <p:nvPr/>
        </p:nvSpPr>
        <p:spPr>
          <a:xfrm>
            <a:off x="4194048" y="4892795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7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25C905BF-9AF1-A095-6F01-303E79ED7153}"/>
              </a:ext>
            </a:extLst>
          </p:cNvPr>
          <p:cNvSpPr txBox="1"/>
          <p:nvPr/>
        </p:nvSpPr>
        <p:spPr>
          <a:xfrm>
            <a:off x="4523232" y="4892795"/>
            <a:ext cx="342900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chemeClr val="bg1"/>
                </a:solidFill>
              </a:rPr>
              <a:t>HOLD:   M unchanged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BA874107-A030-EEB7-9A30-60C28E309E8C}"/>
              </a:ext>
            </a:extLst>
          </p:cNvPr>
          <p:cNvSpPr txBox="1"/>
          <p:nvPr/>
        </p:nvSpPr>
        <p:spPr>
          <a:xfrm>
            <a:off x="4523232" y="5167115"/>
            <a:ext cx="3429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CCCCCC"/>
                </a:solidFill>
              </a:rPr>
              <a:t>If period not elapsed — wait for cooldown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40CD0A7A-6BF5-130D-178D-A29490952AF3}"/>
              </a:ext>
            </a:extLst>
          </p:cNvPr>
          <p:cNvSpPr/>
          <p:nvPr/>
        </p:nvSpPr>
        <p:spPr>
          <a:xfrm>
            <a:off x="4194048" y="5459723"/>
            <a:ext cx="292608" cy="256032"/>
          </a:xfrm>
          <a:prstGeom prst="rect">
            <a:avLst/>
          </a:prstGeom>
          <a:solidFill>
            <a:srgbClr val="76B9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93CCDE34-1ECE-5246-CE2D-D445AABFCE9A}"/>
              </a:ext>
            </a:extLst>
          </p:cNvPr>
          <p:cNvSpPr txBox="1"/>
          <p:nvPr/>
        </p:nvSpPr>
        <p:spPr>
          <a:xfrm>
            <a:off x="4194048" y="5459723"/>
            <a:ext cx="29260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A1A2E"/>
                </a:solidFill>
              </a:rPr>
              <a:t>8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3BC1C6AC-CEB3-05AE-0460-DB374C04C1EE}"/>
              </a:ext>
            </a:extLst>
          </p:cNvPr>
          <p:cNvSpPr txBox="1"/>
          <p:nvPr/>
        </p:nvSpPr>
        <p:spPr>
          <a:xfrm>
            <a:off x="4523232" y="5459723"/>
            <a:ext cx="3429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Worker picks up new M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878436D-AFFD-6B82-E842-35626D0F3B9D}"/>
              </a:ext>
            </a:extLst>
          </p:cNvPr>
          <p:cNvSpPr txBox="1"/>
          <p:nvPr/>
        </p:nvSpPr>
        <p:spPr>
          <a:xfrm>
            <a:off x="4523232" y="5734043"/>
            <a:ext cx="342900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b="0" i="1">
                <a:solidFill>
                  <a:srgbClr val="CCCCCC"/>
                </a:solidFill>
              </a:rPr>
              <a:t>Kernel </a:t>
            </a:r>
            <a:r>
              <a:rPr sz="1000" b="0" i="1">
                <a:solidFill>
                  <a:srgbClr val="CCCCCC"/>
                </a:solidFill>
              </a:rPr>
              <a:t>runs at new batch size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D7939A7A-04D9-CC30-9478-8D463E8C2A79}"/>
              </a:ext>
            </a:extLst>
          </p:cNvPr>
          <p:cNvSpPr/>
          <p:nvPr/>
        </p:nvSpPr>
        <p:spPr>
          <a:xfrm>
            <a:off x="8290560" y="845456"/>
            <a:ext cx="3566160" cy="5349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28ED8A91-5A71-6823-7C1C-489DE52463FA}"/>
              </a:ext>
            </a:extLst>
          </p:cNvPr>
          <p:cNvSpPr txBox="1"/>
          <p:nvPr/>
        </p:nvSpPr>
        <p:spPr>
          <a:xfrm>
            <a:off x="8900160" y="9005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/>
              <a:t>Timing Constraints</a:t>
            </a:r>
          </a:p>
        </p:txBody>
      </p:sp>
      <p:sp>
        <p:nvSpPr>
          <p:cNvPr id="58" name="TextBox 57">
            <a:extLst>
              <a:ext uri="{FF2B5EF4-FFF2-40B4-BE49-F238E27FC236}">
                <a16:creationId xmlns:a16="http://schemas.microsoft.com/office/drawing/2014/main" id="{442B40F3-82C3-ECA0-5E5C-72A0572AFC93}"/>
              </a:ext>
            </a:extLst>
          </p:cNvPr>
          <p:cNvSpPr txBox="1"/>
          <p:nvPr/>
        </p:nvSpPr>
        <p:spPr>
          <a:xfrm>
            <a:off x="8476052" y="2805173"/>
            <a:ext cx="3291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err="1"/>
              <a:t>shrink_period</a:t>
            </a:r>
            <a:r>
              <a:rPr sz="1300" b="1" i="0"/>
              <a:t> = 1 </a:t>
            </a:r>
            <a:r>
              <a:rPr sz="1300" b="1" i="0" err="1"/>
              <a:t>ms</a:t>
            </a:r>
            <a:r>
              <a:rPr lang="en-US" sz="1300" b="1"/>
              <a:t>,</a:t>
            </a:r>
            <a:r>
              <a:rPr sz="1300" b="1" i="0"/>
              <a:t> (5 × </a:t>
            </a:r>
            <a:r>
              <a:rPr sz="1300" b="1" i="0" err="1"/>
              <a:t>τ_env</a:t>
            </a:r>
            <a:r>
              <a:rPr sz="1300" b="1" i="0"/>
              <a:t>)</a:t>
            </a:r>
          </a:p>
        </p:txBody>
      </p:sp>
      <p:sp>
        <p:nvSpPr>
          <p:cNvPr id="59" name="TextBox 58">
            <a:extLst>
              <a:ext uri="{FF2B5EF4-FFF2-40B4-BE49-F238E27FC236}">
                <a16:creationId xmlns:a16="http://schemas.microsoft.com/office/drawing/2014/main" id="{2D04E154-312E-0F7B-DE97-4A177C84DC99}"/>
              </a:ext>
            </a:extLst>
          </p:cNvPr>
          <p:cNvSpPr txBox="1"/>
          <p:nvPr/>
        </p:nvSpPr>
        <p:spPr>
          <a:xfrm>
            <a:off x="8476052" y="315264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Min wall time between consecutive shrinks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8AC9E9CD-85B1-FE7E-4D20-BE5C8A846A51}"/>
              </a:ext>
            </a:extLst>
          </p:cNvPr>
          <p:cNvSpPr txBox="1"/>
          <p:nvPr/>
        </p:nvSpPr>
        <p:spPr>
          <a:xfrm>
            <a:off x="8476052" y="342696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Prevents over-throttling a droop the last shrink already started correcting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7B636C97-8BC9-1B30-62E5-BE6271CE338F}"/>
              </a:ext>
            </a:extLst>
          </p:cNvPr>
          <p:cNvSpPr txBox="1"/>
          <p:nvPr/>
        </p:nvSpPr>
        <p:spPr>
          <a:xfrm>
            <a:off x="8471698" y="3948282"/>
            <a:ext cx="3291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 err="1"/>
              <a:t>grow_period</a:t>
            </a:r>
            <a:r>
              <a:rPr sz="1300" b="1" i="0"/>
              <a:t> = 200 µs</a:t>
            </a:r>
            <a:r>
              <a:rPr lang="en-US" sz="1300" b="1" i="0"/>
              <a:t>,</a:t>
            </a:r>
            <a:r>
              <a:rPr sz="1300" b="1" i="0"/>
              <a:t>  (1 × </a:t>
            </a:r>
            <a:r>
              <a:rPr sz="1300" b="1" i="0" err="1"/>
              <a:t>τ_env</a:t>
            </a:r>
            <a:r>
              <a:rPr sz="1300" b="1" i="0"/>
              <a:t>)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1CE545F6-5361-8447-237D-BBD213554651}"/>
              </a:ext>
            </a:extLst>
          </p:cNvPr>
          <p:cNvSpPr txBox="1"/>
          <p:nvPr/>
        </p:nvSpPr>
        <p:spPr>
          <a:xfrm>
            <a:off x="8471698" y="4287385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Min wall time between consecutive grows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23F5013B-0572-2557-7A06-A4EB41623E25}"/>
              </a:ext>
            </a:extLst>
          </p:cNvPr>
          <p:cNvSpPr txBox="1"/>
          <p:nvPr/>
        </p:nvSpPr>
        <p:spPr>
          <a:xfrm>
            <a:off x="8471698" y="4581899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Each grow causes ΔI → </a:t>
            </a:r>
            <a:r>
              <a:rPr sz="1100" b="0" i="0" err="1">
                <a:solidFill>
                  <a:srgbClr val="FFFFFF"/>
                </a:solidFill>
              </a:rPr>
              <a:t>V_ac</a:t>
            </a:r>
            <a:r>
              <a:rPr sz="1100" b="0" i="0">
                <a:solidFill>
                  <a:srgbClr val="FFFFFF"/>
                </a:solidFill>
              </a:rPr>
              <a:t> spike</a:t>
            </a:r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9AFF8B22-13CF-DDB1-E049-180406FF91A8}"/>
              </a:ext>
            </a:extLst>
          </p:cNvPr>
          <p:cNvSpPr txBox="1"/>
          <p:nvPr/>
        </p:nvSpPr>
        <p:spPr>
          <a:xfrm>
            <a:off x="8471698" y="4896642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Wait for previous spike to decay before next grow</a:t>
            </a: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F2F3BE7-D7D5-4B7B-F57F-233E304D2AD8}"/>
              </a:ext>
            </a:extLst>
          </p:cNvPr>
          <p:cNvSpPr txBox="1"/>
          <p:nvPr/>
        </p:nvSpPr>
        <p:spPr>
          <a:xfrm>
            <a:off x="8471698" y="5344156"/>
            <a:ext cx="3291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100" b="0" i="0">
                <a:solidFill>
                  <a:srgbClr val="FFFFFF"/>
                </a:solidFill>
              </a:rPr>
              <a:t>• After a shrink next grow is delayed by 1ms instead</a:t>
            </a:r>
            <a:endParaRPr sz="1100" b="0" i="0">
              <a:solidFill>
                <a:srgbClr val="FFFFFF"/>
              </a:solidFill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97A81E1B-8EFF-A928-4F28-917D252DF9E1}"/>
              </a:ext>
            </a:extLst>
          </p:cNvPr>
          <p:cNvSpPr txBox="1"/>
          <p:nvPr/>
        </p:nvSpPr>
        <p:spPr>
          <a:xfrm>
            <a:off x="8455152" y="1366664"/>
            <a:ext cx="329184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/>
              <a:t>tick = 50 µs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AABEE6D6-30E1-DB0A-B011-D573A4966316}"/>
              </a:ext>
            </a:extLst>
          </p:cNvPr>
          <p:cNvSpPr txBox="1"/>
          <p:nvPr/>
        </p:nvSpPr>
        <p:spPr>
          <a:xfrm>
            <a:off x="8459506" y="164076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Every tick evaluates droop</a:t>
            </a:r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57050A61-F7AC-63B1-B88C-0D0CC22648D8}"/>
              </a:ext>
            </a:extLst>
          </p:cNvPr>
          <p:cNvSpPr txBox="1"/>
          <p:nvPr/>
        </p:nvSpPr>
        <p:spPr>
          <a:xfrm>
            <a:off x="8459506" y="191508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Shrink fires at most once per shrink_period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7D53F243-AF4A-8F42-9676-0879A6CC52A6}"/>
              </a:ext>
            </a:extLst>
          </p:cNvPr>
          <p:cNvSpPr txBox="1"/>
          <p:nvPr/>
        </p:nvSpPr>
        <p:spPr>
          <a:xfrm>
            <a:off x="8459506" y="218940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Grow fires at most once per grow_period</a:t>
            </a: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D3E4CEB8-F3A7-258C-2DFB-28FFD731F232}"/>
              </a:ext>
            </a:extLst>
          </p:cNvPr>
          <p:cNvSpPr txBox="1"/>
          <p:nvPr/>
        </p:nvSpPr>
        <p:spPr>
          <a:xfrm>
            <a:off x="8459506" y="2463724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</a:rPr>
              <a:t>• Tick sets max responsiveness to fast droops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B94ACF87-3981-EE76-F257-1FC3F6722356}"/>
              </a:ext>
            </a:extLst>
          </p:cNvPr>
          <p:cNvSpPr/>
          <p:nvPr/>
        </p:nvSpPr>
        <p:spPr>
          <a:xfrm>
            <a:off x="152400" y="6386940"/>
            <a:ext cx="11704320" cy="2926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ED01106D-3466-41AC-8912-C7D6D1897C38}"/>
              </a:ext>
            </a:extLst>
          </p:cNvPr>
          <p:cNvSpPr txBox="1"/>
          <p:nvPr/>
        </p:nvSpPr>
        <p:spPr>
          <a:xfrm>
            <a:off x="152400" y="6396084"/>
            <a:ext cx="11704320" cy="274320"/>
          </a:xfrm>
          <a:prstGeom prst="rect">
            <a:avLst/>
          </a:prstGeom>
          <a:solidFill>
            <a:schemeClr val="accent1"/>
          </a:solidFill>
        </p:spPr>
        <p:txBody>
          <a:bodyPr wrap="square">
            <a:spAutoFit/>
          </a:bodyPr>
          <a:lstStyle/>
          <a:p>
            <a:pPr algn="ctr"/>
            <a:r>
              <a:rPr sz="1200" b="1" i="0" err="1"/>
              <a:t>V_safe</a:t>
            </a:r>
            <a:r>
              <a:rPr sz="1200" b="1" i="0"/>
              <a:t> = </a:t>
            </a:r>
            <a:r>
              <a:rPr sz="1200" b="1" i="0" err="1"/>
              <a:t>V_min</a:t>
            </a:r>
            <a:r>
              <a:rPr sz="1200" b="1" i="0"/>
              <a:t> + 30 mV  (comfort floor)   |   </a:t>
            </a:r>
            <a:r>
              <a:rPr sz="1200" b="1" i="0" err="1"/>
              <a:t>V_shrink</a:t>
            </a:r>
            <a:r>
              <a:rPr sz="1200" b="1" i="0"/>
              <a:t> = </a:t>
            </a:r>
            <a:r>
              <a:rPr sz="1200" b="1" i="0" err="1"/>
              <a:t>V_safe</a:t>
            </a:r>
            <a:r>
              <a:rPr sz="1200" b="1" i="0"/>
              <a:t> − deadband  (single trigger)   |   Grow fires above </a:t>
            </a:r>
            <a:r>
              <a:rPr sz="1200" b="1" i="0" err="1"/>
              <a:t>V_shrink</a:t>
            </a:r>
            <a:r>
              <a:rPr sz="1200" b="1" i="0"/>
              <a:t>  ·  Shrink fires below </a:t>
            </a:r>
            <a:r>
              <a:rPr sz="1200" b="1" i="0" err="1"/>
              <a:t>V_shrink</a:t>
            </a:r>
            <a:endParaRPr sz="1200" b="1" i="0"/>
          </a:p>
        </p:txBody>
      </p:sp>
    </p:spTree>
    <p:extLst>
      <p:ext uri="{BB962C8B-B14F-4D97-AF65-F5344CB8AC3E}">
        <p14:creationId xmlns:p14="http://schemas.microsoft.com/office/powerpoint/2010/main" val="3148661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210"/>
    </mc:Choice>
    <mc:Fallback xmlns="">
      <p:transition spd="slow" advTm="3210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269E97-B9A6-3DA9-36A2-0D7F6482A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3125811"/>
            <a:ext cx="3242191" cy="1704459"/>
          </a:xfrm>
        </p:spPr>
        <p:txBody>
          <a:bodyPr/>
          <a:lstStyle/>
          <a:p>
            <a:r>
              <a:rPr lang="en-US"/>
              <a:t>The workload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71C2B6-9ABD-3C9A-3CEF-2BB9EF3CBA3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257800" y="3316096"/>
            <a:ext cx="6210300" cy="2852928"/>
          </a:xfrm>
        </p:spPr>
        <p:txBody>
          <a:bodyPr/>
          <a:lstStyle/>
          <a:p>
            <a:r>
              <a:rPr lang="en-US" err="1">
                <a:solidFill>
                  <a:srgbClr val="333355"/>
                </a:solidFill>
              </a:rPr>
              <a:t>Torchvision</a:t>
            </a:r>
            <a:r>
              <a:rPr lang="en-US">
                <a:solidFill>
                  <a:srgbClr val="333355"/>
                </a:solidFill>
              </a:rPr>
              <a:t> ResNet-18. Max-batch input </a:t>
            </a:r>
            <a:r>
              <a:rPr lang="en-US" err="1">
                <a:solidFill>
                  <a:srgbClr val="333355"/>
                </a:solidFill>
              </a:rPr>
              <a:t>preallocated</a:t>
            </a:r>
            <a:r>
              <a:rPr lang="en-US">
                <a:solidFill>
                  <a:srgbClr val="333355"/>
                </a:solidFill>
              </a:rPr>
              <a:t> once: [</a:t>
            </a:r>
            <a:r>
              <a:rPr lang="en-US" err="1">
                <a:solidFill>
                  <a:srgbClr val="333355"/>
                </a:solidFill>
              </a:rPr>
              <a:t>M_max</a:t>
            </a:r>
            <a:r>
              <a:rPr lang="en-US">
                <a:solidFill>
                  <a:srgbClr val="333355"/>
                </a:solidFill>
              </a:rPr>
              <a:t>, 3, 224, 224]</a:t>
            </a:r>
          </a:p>
          <a:p>
            <a:r>
              <a:rPr lang="en-US">
                <a:solidFill>
                  <a:srgbClr val="333355"/>
                </a:solidFill>
              </a:rPr>
              <a:t>M is the only control knob — no weight changes, no model swap</a:t>
            </a:r>
          </a:p>
          <a:p>
            <a:r>
              <a:rPr lang="en-US">
                <a:solidFill>
                  <a:srgbClr val="333355"/>
                </a:solidFill>
              </a:rPr>
              <a:t>Power scales linearly with M between </a:t>
            </a:r>
            <a:r>
              <a:rPr lang="en-US" err="1">
                <a:solidFill>
                  <a:srgbClr val="333355"/>
                </a:solidFill>
              </a:rPr>
              <a:t>P_idle</a:t>
            </a:r>
            <a:r>
              <a:rPr lang="en-US">
                <a:solidFill>
                  <a:srgbClr val="333355"/>
                </a:solidFill>
              </a:rPr>
              <a:t> (M=1) and </a:t>
            </a:r>
            <a:r>
              <a:rPr lang="en-US" err="1">
                <a:solidFill>
                  <a:srgbClr val="333355"/>
                </a:solidFill>
              </a:rPr>
              <a:t>P_full</a:t>
            </a:r>
            <a:r>
              <a:rPr lang="en-US">
                <a:solidFill>
                  <a:srgbClr val="333355"/>
                </a:solidFill>
              </a:rPr>
              <a:t> (M=16)</a:t>
            </a:r>
          </a:p>
          <a:p>
            <a:pPr lvl="1"/>
            <a:r>
              <a:rPr lang="en-US">
                <a:solidFill>
                  <a:srgbClr val="333355"/>
                </a:solidFill>
              </a:rPr>
              <a:t>Reducing M by 1 image reduces power by  ΔP = (</a:t>
            </a:r>
            <a:r>
              <a:rPr lang="en-US" err="1">
                <a:solidFill>
                  <a:srgbClr val="333355"/>
                </a:solidFill>
              </a:rPr>
              <a:t>P_full</a:t>
            </a:r>
            <a:r>
              <a:rPr lang="en-US">
                <a:solidFill>
                  <a:srgbClr val="333355"/>
                </a:solidFill>
              </a:rPr>
              <a:t> − </a:t>
            </a:r>
            <a:r>
              <a:rPr lang="en-US" err="1">
                <a:solidFill>
                  <a:srgbClr val="333355"/>
                </a:solidFill>
              </a:rPr>
              <a:t>P_idle</a:t>
            </a:r>
            <a:r>
              <a:rPr lang="en-US">
                <a:solidFill>
                  <a:srgbClr val="333355"/>
                </a:solidFill>
              </a:rPr>
              <a:t>) / (</a:t>
            </a:r>
            <a:r>
              <a:rPr lang="en-US" err="1">
                <a:solidFill>
                  <a:srgbClr val="333355"/>
                </a:solidFill>
              </a:rPr>
              <a:t>M_max</a:t>
            </a:r>
            <a:r>
              <a:rPr lang="en-US">
                <a:solidFill>
                  <a:srgbClr val="333355"/>
                </a:solidFill>
              </a:rPr>
              <a:t> − </a:t>
            </a:r>
            <a:r>
              <a:rPr lang="en-US" err="1">
                <a:solidFill>
                  <a:srgbClr val="333355"/>
                </a:solidFill>
              </a:rPr>
              <a:t>M_min</a:t>
            </a:r>
            <a:r>
              <a:rPr lang="en-US">
                <a:solidFill>
                  <a:srgbClr val="333355"/>
                </a:solidFill>
              </a:rPr>
              <a:t>)  per step</a:t>
            </a:r>
          </a:p>
          <a:p>
            <a:r>
              <a:rPr lang="en-US">
                <a:solidFill>
                  <a:srgbClr val="333355"/>
                </a:solidFill>
              </a:rPr>
              <a:t>As batch size increases execution time increases. A shrink can only affect the next kernel launch, which may take up to 10ms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EBB8696-71F0-75A6-40A8-28538E7EB8CD}"/>
              </a:ext>
            </a:extLst>
          </p:cNvPr>
          <p:cNvSpPr txBox="1"/>
          <p:nvPr/>
        </p:nvSpPr>
        <p:spPr>
          <a:xfrm>
            <a:off x="152400" y="3789772"/>
            <a:ext cx="4572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A1A2E"/>
                </a:solidFill>
              </a:rPr>
              <a:t>flops(M)  =  M  ×  1,820,000,000</a:t>
            </a:r>
            <a:r>
              <a:rPr lang="en-US" sz="1400" b="1">
                <a:solidFill>
                  <a:srgbClr val="1A1A2E"/>
                </a:solidFill>
              </a:rPr>
              <a:t> | 1 MAC = 1 FLOP</a:t>
            </a:r>
            <a:endParaRPr sz="1400" b="1" i="0">
              <a:solidFill>
                <a:srgbClr val="1A1A2E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1B7FA2D-BD30-74ED-D76F-E4A61C8D7D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994" y="4191000"/>
            <a:ext cx="4770705" cy="2194398"/>
          </a:xfrm>
          <a:prstGeom prst="rect">
            <a:avLst/>
          </a:prstGeom>
        </p:spPr>
      </p:pic>
      <p:pic>
        <p:nvPicPr>
          <p:cNvPr id="25" name="Picture Placeholder 24">
            <a:extLst>
              <a:ext uri="{FF2B5EF4-FFF2-40B4-BE49-F238E27FC236}">
                <a16:creationId xmlns:a16="http://schemas.microsoft.com/office/drawing/2014/main" id="{2E9E0170-76DB-93CF-7489-1F7674420B58}"/>
              </a:ext>
            </a:extLst>
          </p:cNvPr>
          <p:cNvPicPr>
            <a:picLocks noGrp="1" noChangeAspect="1"/>
          </p:cNvPicPr>
          <p:nvPr>
            <p:ph type="pic" sz="quarter" idx="15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8651" b="8263"/>
          <a:stretch>
            <a:fillRect/>
          </a:stretch>
        </p:blipFill>
        <p:spPr>
          <a:xfrm>
            <a:off x="0" y="0"/>
            <a:ext cx="9758308" cy="2852927"/>
          </a:xfrm>
          <a:custGeom>
            <a:avLst/>
            <a:gdLst>
              <a:gd name="connsiteX0" fmla="*/ 0 w 11468100"/>
              <a:gd name="connsiteY0" fmla="*/ 0 h 2879959"/>
              <a:gd name="connsiteX1" fmla="*/ 11468100 w 11468100"/>
              <a:gd name="connsiteY1" fmla="*/ 0 h 2879959"/>
              <a:gd name="connsiteX2" fmla="*/ 11468100 w 11468100"/>
              <a:gd name="connsiteY2" fmla="*/ 2378437 h 2879959"/>
              <a:gd name="connsiteX3" fmla="*/ 10964923 w 11468100"/>
              <a:gd name="connsiteY3" fmla="*/ 2879959 h 2879959"/>
              <a:gd name="connsiteX4" fmla="*/ 0 w 11468100"/>
              <a:gd name="connsiteY4" fmla="*/ 2879959 h 28799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468100" h="2879959">
                <a:moveTo>
                  <a:pt x="0" y="0"/>
                </a:moveTo>
                <a:lnTo>
                  <a:pt x="11468100" y="0"/>
                </a:lnTo>
                <a:lnTo>
                  <a:pt x="11468100" y="2378437"/>
                </a:lnTo>
                <a:cubicBezTo>
                  <a:pt x="11468100" y="2655420"/>
                  <a:pt x="11242820" y="2879959"/>
                  <a:pt x="10964923" y="2879959"/>
                </a:cubicBezTo>
                <a:lnTo>
                  <a:pt x="0" y="2879959"/>
                </a:lnTo>
                <a:close/>
              </a:path>
            </a:pathLst>
          </a:custGeom>
          <a:blipFill dpi="0" rotWithShape="1">
            <a:blip r:embed="rId4">
              <a:alphaModFix amt="70000"/>
            </a:blip>
            <a:srcRect/>
            <a:stretch>
              <a:fillRect/>
            </a:stretch>
          </a:blipFill>
        </p:spPr>
      </p:pic>
    </p:spTree>
    <p:extLst>
      <p:ext uri="{BB962C8B-B14F-4D97-AF65-F5344CB8AC3E}">
        <p14:creationId xmlns:p14="http://schemas.microsoft.com/office/powerpoint/2010/main" val="4405261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26"/>
    </mc:Choice>
    <mc:Fallback xmlns="">
      <p:transition spd="slow" advTm="202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3B6F1D-7C9B-DF8F-E87B-D8B677D9D6B8}"/>
              </a:ext>
            </a:extLst>
          </p:cNvPr>
          <p:cNvSpPr/>
          <p:nvPr/>
        </p:nvSpPr>
        <p:spPr>
          <a:xfrm>
            <a:off x="7154022" y="3815720"/>
            <a:ext cx="4718583" cy="2305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50AD242-8690-9154-9564-DCC01CF38BE2}"/>
              </a:ext>
            </a:extLst>
          </p:cNvPr>
          <p:cNvSpPr/>
          <p:nvPr/>
        </p:nvSpPr>
        <p:spPr>
          <a:xfrm>
            <a:off x="7154023" y="1321413"/>
            <a:ext cx="4718583" cy="230551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6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32EED4-364A-10D9-01E5-EFFA6820E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722" y="319377"/>
            <a:ext cx="10706100" cy="683912"/>
          </a:xfrm>
        </p:spPr>
        <p:txBody>
          <a:bodyPr/>
          <a:lstStyle/>
          <a:p>
            <a:pPr algn="ctr"/>
            <a:r>
              <a:rPr lang="en-US"/>
              <a:t>RESNET-18 Performance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3709E05-FAE8-58FE-64FA-4B8EC8F9DD4F}"/>
              </a:ext>
            </a:extLst>
          </p:cNvPr>
          <p:cNvGrpSpPr/>
          <p:nvPr/>
        </p:nvGrpSpPr>
        <p:grpSpPr>
          <a:xfrm>
            <a:off x="0" y="1231436"/>
            <a:ext cx="7043171" cy="5177140"/>
            <a:chOff x="185157" y="1275886"/>
            <a:chExt cx="7043171" cy="5177140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3B2EC57-61D1-F51F-2B7A-10F7F938643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5157" y="3853997"/>
              <a:ext cx="7043171" cy="2599029"/>
            </a:xfrm>
            <a:prstGeom prst="rect">
              <a:avLst/>
            </a:prstGeom>
          </p:spPr>
        </p:pic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70F6A13-7471-CE79-E6FF-99919A9A36F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69899" y="1275886"/>
              <a:ext cx="6933617" cy="2556747"/>
            </a:xfrm>
            <a:prstGeom prst="rect">
              <a:avLst/>
            </a:prstGeom>
          </p:spPr>
        </p:pic>
      </p:grpSp>
      <p:sp>
        <p:nvSpPr>
          <p:cNvPr id="5" name="TextBox 4">
            <a:extLst>
              <a:ext uri="{FF2B5EF4-FFF2-40B4-BE49-F238E27FC236}">
                <a16:creationId xmlns:a16="http://schemas.microsoft.com/office/drawing/2014/main" id="{89C9A43C-EF8B-A6CF-8E8A-BF7DD94879E3}"/>
              </a:ext>
            </a:extLst>
          </p:cNvPr>
          <p:cNvSpPr txBox="1"/>
          <p:nvPr/>
        </p:nvSpPr>
        <p:spPr>
          <a:xfrm>
            <a:off x="7228328" y="3918094"/>
            <a:ext cx="3175968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System Specs:</a:t>
            </a:r>
            <a:br>
              <a:rPr lang="en-US">
                <a:solidFill>
                  <a:schemeClr val="bg1"/>
                </a:solidFill>
              </a:rPr>
            </a:br>
            <a:endParaRPr lang="en-US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chemeClr val="bg1"/>
                </a:solidFill>
              </a:rPr>
              <a:t>Vmin</a:t>
            </a:r>
            <a:r>
              <a:rPr lang="en-US" sz="1600">
                <a:solidFill>
                  <a:schemeClr val="bg1"/>
                </a:solidFill>
              </a:rPr>
              <a:t> = 0.92V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chemeClr val="bg1"/>
                </a:solidFill>
              </a:rPr>
              <a:t>Vshrink</a:t>
            </a:r>
            <a:r>
              <a:rPr lang="en-US" sz="1600">
                <a:solidFill>
                  <a:schemeClr val="bg1"/>
                </a:solidFill>
              </a:rPr>
              <a:t> = 0.945V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Deadband = 0.005V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RLC = 0.3mohm/15nH/1mF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8EC420F-3DBA-D45A-1DCA-1177E120C6B3}"/>
              </a:ext>
            </a:extLst>
          </p:cNvPr>
          <p:cNvSpPr txBox="1"/>
          <p:nvPr/>
        </p:nvSpPr>
        <p:spPr>
          <a:xfrm>
            <a:off x="7228328" y="1427729"/>
            <a:ext cx="4569972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Batch Throttling benefits: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err="1">
                <a:solidFill>
                  <a:schemeClr val="bg1"/>
                </a:solidFill>
              </a:rPr>
              <a:t>Vmin</a:t>
            </a:r>
            <a:r>
              <a:rPr lang="en-US" sz="1600">
                <a:solidFill>
                  <a:schemeClr val="bg1"/>
                </a:solidFill>
              </a:rPr>
              <a:t> violations reduced from 3138 to just 40</a:t>
            </a:r>
            <a:br>
              <a:rPr lang="en-US" sz="1600">
                <a:solidFill>
                  <a:schemeClr val="bg1"/>
                </a:solidFill>
              </a:rPr>
            </a:br>
            <a:endParaRPr 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Achieved Performance with throttling is 0.887 TFLOP/s</a:t>
            </a:r>
            <a:br>
              <a:rPr lang="en-US" sz="1600">
                <a:solidFill>
                  <a:schemeClr val="bg1"/>
                </a:solidFill>
              </a:rPr>
            </a:br>
            <a:endParaRPr lang="en-US" sz="1600">
              <a:solidFill>
                <a:schemeClr val="bg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>
                <a:solidFill>
                  <a:schemeClr val="bg1"/>
                </a:solidFill>
              </a:rPr>
              <a:t>Workload fails without batch throttling.</a:t>
            </a:r>
            <a:r>
              <a:rPr lang="en-US" sz="16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3114851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037"/>
    </mc:Choice>
    <mc:Fallback xmlns="">
      <p:transition spd="slow" advTm="603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4E2A65-3431-391B-3971-16F17FD07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576" y="214815"/>
            <a:ext cx="10692848" cy="505008"/>
          </a:xfrm>
        </p:spPr>
        <p:txBody>
          <a:bodyPr/>
          <a:lstStyle/>
          <a:p>
            <a:pPr algn="ctr"/>
            <a:r>
              <a:rPr lang="en-US"/>
              <a:t>Capacitive Sensitivity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1C5149-B76F-DC6C-35B9-D15B9781F343}"/>
              </a:ext>
            </a:extLst>
          </p:cNvPr>
          <p:cNvSpPr txBox="1"/>
          <p:nvPr/>
        </p:nvSpPr>
        <p:spPr>
          <a:xfrm>
            <a:off x="6955447" y="5168115"/>
            <a:ext cx="3763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System Specs: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/>
              <a:t>Vmin</a:t>
            </a:r>
            <a:r>
              <a:rPr lang="en-US" sz="1400"/>
              <a:t> = 0.92V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/>
              <a:t>Vshrink</a:t>
            </a:r>
            <a:r>
              <a:rPr lang="en-US" sz="1400"/>
              <a:t> = 0.945V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Deadband = 0.005V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RLC = 0.3mohm/15nH/1mF vs 2mF</a:t>
            </a:r>
          </a:p>
        </p:txBody>
      </p:sp>
      <p:sp>
        <p:nvSpPr>
          <p:cNvPr id="7" name="Curved Left Arrow 6">
            <a:extLst>
              <a:ext uri="{FF2B5EF4-FFF2-40B4-BE49-F238E27FC236}">
                <a16:creationId xmlns:a16="http://schemas.microsoft.com/office/drawing/2014/main" id="{0DE57B41-D80C-905D-0483-50F7FC11DF3B}"/>
              </a:ext>
            </a:extLst>
          </p:cNvPr>
          <p:cNvSpPr/>
          <p:nvPr/>
        </p:nvSpPr>
        <p:spPr>
          <a:xfrm>
            <a:off x="6095999" y="2849498"/>
            <a:ext cx="744673" cy="3038822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763E980-CA70-917B-4715-4038A0830BB7}"/>
              </a:ext>
            </a:extLst>
          </p:cNvPr>
          <p:cNvSpPr txBox="1"/>
          <p:nvPr/>
        </p:nvSpPr>
        <p:spPr>
          <a:xfrm>
            <a:off x="6837083" y="3763049"/>
            <a:ext cx="381732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err="1"/>
              <a:t>Vmin</a:t>
            </a:r>
            <a:r>
              <a:rPr lang="en-US" sz="1600"/>
              <a:t> violations </a:t>
            </a:r>
            <a:r>
              <a:rPr lang="en-US" sz="1600" b="1">
                <a:solidFill>
                  <a:srgbClr val="92D050"/>
                </a:solidFill>
              </a:rPr>
              <a:t>reduces</a:t>
            </a:r>
            <a:r>
              <a:rPr lang="en-US" sz="1600"/>
              <a:t> from 110 to 0!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3D42430C-5934-734B-559A-AE3FF5DB233E}"/>
              </a:ext>
            </a:extLst>
          </p:cNvPr>
          <p:cNvGrpSpPr/>
          <p:nvPr/>
        </p:nvGrpSpPr>
        <p:grpSpPr>
          <a:xfrm>
            <a:off x="412750" y="969680"/>
            <a:ext cx="5683250" cy="5582493"/>
            <a:chOff x="536307" y="965947"/>
            <a:chExt cx="5683250" cy="5582493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E79898B8-D1D1-9EA4-6444-1EA50EC004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36307" y="3848135"/>
              <a:ext cx="5683249" cy="2700305"/>
            </a:xfrm>
            <a:prstGeom prst="rect">
              <a:avLst/>
            </a:prstGeom>
          </p:spPr>
        </p:pic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E5BD532-3084-CA40-BE5F-0E4D4D0F088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36307" y="965947"/>
              <a:ext cx="5683250" cy="2707772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D50B5098-5470-03DF-66AD-D0DAC40D9FF0}"/>
                </a:ext>
              </a:extLst>
            </p:cNvPr>
            <p:cNvSpPr txBox="1"/>
            <p:nvPr/>
          </p:nvSpPr>
          <p:spPr>
            <a:xfrm>
              <a:off x="2343150" y="1403350"/>
              <a:ext cx="26093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Die capacitance = 1mF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9B43C3B-1E68-3962-07E9-C2C1DC56EF83}"/>
                </a:ext>
              </a:extLst>
            </p:cNvPr>
            <p:cNvSpPr txBox="1"/>
            <p:nvPr/>
          </p:nvSpPr>
          <p:spPr>
            <a:xfrm>
              <a:off x="2216150" y="4111122"/>
              <a:ext cx="265585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Die capacitance = 2mF</a:t>
              </a:r>
            </a:p>
          </p:txBody>
        </p:sp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CCB12D4A-3906-0C2B-0F68-B29E7D832406}"/>
              </a:ext>
            </a:extLst>
          </p:cNvPr>
          <p:cNvSpPr txBox="1"/>
          <p:nvPr/>
        </p:nvSpPr>
        <p:spPr>
          <a:xfrm>
            <a:off x="6468334" y="1089720"/>
            <a:ext cx="4974089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Capacitors mitigate high-frequency noise by acting as local charge reservoirs.</a:t>
            </a:r>
            <a:br>
              <a:rPr lang="en-US" sz="1600"/>
            </a:b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Benefits of higher capacitance: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/>
              <a:t>Solves all </a:t>
            </a:r>
            <a:r>
              <a:rPr lang="en-US" sz="1600" err="1"/>
              <a:t>Vmin</a:t>
            </a:r>
            <a:r>
              <a:rPr lang="en-US" sz="1600"/>
              <a:t> violations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/>
              <a:t>Less throttling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/>
              <a:t>Higher average performance achieved: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/>
              <a:t>With 1mF: 0.919 TFLOP/s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1600"/>
              <a:t>With 2mF: 2.022 TFLOP/s</a:t>
            </a:r>
          </a:p>
        </p:txBody>
      </p:sp>
    </p:spTree>
    <p:extLst>
      <p:ext uri="{BB962C8B-B14F-4D97-AF65-F5344CB8AC3E}">
        <p14:creationId xmlns:p14="http://schemas.microsoft.com/office/powerpoint/2010/main" val="39831082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9598"/>
    </mc:Choice>
    <mc:Fallback xmlns="">
      <p:transition spd="slow" advTm="49598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1A4AC6-175F-31CB-10CF-8D3C95C94E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FC5A7-FCE2-7DA6-523C-71C4AEA259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9576" y="214815"/>
            <a:ext cx="10692848" cy="505008"/>
          </a:xfrm>
        </p:spPr>
        <p:txBody>
          <a:bodyPr/>
          <a:lstStyle/>
          <a:p>
            <a:pPr algn="ctr"/>
            <a:r>
              <a:rPr lang="en-US"/>
              <a:t>Inductive Sensitivity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B4560BF-6F4B-7672-80BE-9A898EF3194B}"/>
              </a:ext>
            </a:extLst>
          </p:cNvPr>
          <p:cNvSpPr txBox="1"/>
          <p:nvPr/>
        </p:nvSpPr>
        <p:spPr>
          <a:xfrm>
            <a:off x="6955447" y="5168115"/>
            <a:ext cx="376307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/>
              <a:t>System Specs: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/>
              <a:t>Vmin</a:t>
            </a:r>
            <a:r>
              <a:rPr lang="en-US" sz="1400"/>
              <a:t> = 0.92V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err="1"/>
              <a:t>Vshrink</a:t>
            </a:r>
            <a:r>
              <a:rPr lang="en-US" sz="1400"/>
              <a:t> = 0.945V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Deadband = 0.005V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/>
              <a:t>RLC = 0.3mohm/15nH vs 30nH/1mF</a:t>
            </a:r>
          </a:p>
        </p:txBody>
      </p:sp>
      <p:sp>
        <p:nvSpPr>
          <p:cNvPr id="7" name="Curved Left Arrow 6">
            <a:extLst>
              <a:ext uri="{FF2B5EF4-FFF2-40B4-BE49-F238E27FC236}">
                <a16:creationId xmlns:a16="http://schemas.microsoft.com/office/drawing/2014/main" id="{AB80DCEA-A26B-9401-0787-3E08DF476CE2}"/>
              </a:ext>
            </a:extLst>
          </p:cNvPr>
          <p:cNvSpPr/>
          <p:nvPr/>
        </p:nvSpPr>
        <p:spPr>
          <a:xfrm>
            <a:off x="6026277" y="2865497"/>
            <a:ext cx="744673" cy="2973452"/>
          </a:xfrm>
          <a:prstGeom prst="curved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5F4B32A-F899-B5E1-237A-0BE86F0AECA9}"/>
              </a:ext>
            </a:extLst>
          </p:cNvPr>
          <p:cNvSpPr txBox="1"/>
          <p:nvPr/>
        </p:nvSpPr>
        <p:spPr>
          <a:xfrm>
            <a:off x="6726372" y="3984643"/>
            <a:ext cx="412093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err="1"/>
              <a:t>Vmin</a:t>
            </a:r>
            <a:r>
              <a:rPr lang="en-US" sz="1600"/>
              <a:t> violations </a:t>
            </a:r>
            <a:r>
              <a:rPr lang="en-US" sz="1600" b="1">
                <a:solidFill>
                  <a:srgbClr val="FF0000"/>
                </a:solidFill>
              </a:rPr>
              <a:t>increases</a:t>
            </a:r>
            <a:r>
              <a:rPr lang="en-US" sz="1600"/>
              <a:t> from 18 to 565!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108C6EC-AB20-7CF1-7142-77F3E567A032}"/>
              </a:ext>
            </a:extLst>
          </p:cNvPr>
          <p:cNvSpPr txBox="1"/>
          <p:nvPr/>
        </p:nvSpPr>
        <p:spPr>
          <a:xfrm>
            <a:off x="6468335" y="1279838"/>
            <a:ext cx="5304565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Higher Inductance makes high-frequency noise worse due to its resistance to rapid di/dt events.</a:t>
            </a:r>
            <a:br>
              <a:rPr lang="en-US" sz="1600"/>
            </a:br>
            <a:endParaRPr lang="en-US" sz="16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/>
              <a:t>Performance Loss: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/>
              <a:t>With 15nH: 0.859 TFLOP/s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1600"/>
              <a:t>With 30nH: 0.756 TFLOP/s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6666F53-3951-84B7-AFCA-F30A3D1A8532}"/>
              </a:ext>
            </a:extLst>
          </p:cNvPr>
          <p:cNvGrpSpPr/>
          <p:nvPr/>
        </p:nvGrpSpPr>
        <p:grpSpPr>
          <a:xfrm>
            <a:off x="508254" y="1175660"/>
            <a:ext cx="5518150" cy="5416757"/>
            <a:chOff x="508254" y="1175660"/>
            <a:chExt cx="5518150" cy="5416757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94EB53F9-61A5-48AB-2F01-816A1857DA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08254" y="1175660"/>
              <a:ext cx="5518150" cy="261654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9C697FC-174B-20BF-C817-2F1F8F7FCF61}"/>
                </a:ext>
              </a:extLst>
            </p:cNvPr>
            <p:cNvSpPr txBox="1"/>
            <p:nvPr/>
          </p:nvSpPr>
          <p:spPr>
            <a:xfrm>
              <a:off x="2114755" y="1464573"/>
              <a:ext cx="257660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Die inductance = 15nH</a:t>
              </a:r>
            </a:p>
          </p:txBody>
        </p:sp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01516A6-91BF-4723-1FD0-4CE6D7C23B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8254" y="3984612"/>
              <a:ext cx="5518150" cy="2607805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ED27D0C4-3319-AF62-AE0A-FFEEB74F54AA}"/>
                </a:ext>
              </a:extLst>
            </p:cNvPr>
            <p:cNvSpPr txBox="1"/>
            <p:nvPr/>
          </p:nvSpPr>
          <p:spPr>
            <a:xfrm>
              <a:off x="1975055" y="4217361"/>
              <a:ext cx="264392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/>
                <a:t>Die inductance = 30nH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4692553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80"/>
    </mc:Choice>
    <mc:Fallback xmlns="">
      <p:transition spd="slow" advTm="48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25AF6-8847-8A8D-2FA1-E31F683F8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8327" y="343844"/>
            <a:ext cx="10706100" cy="683912"/>
          </a:xfrm>
        </p:spPr>
        <p:txBody>
          <a:bodyPr anchor="t">
            <a:normAutofit/>
          </a:bodyPr>
          <a:lstStyle/>
          <a:p>
            <a:pPr algn="ctr"/>
            <a:r>
              <a:rPr lang="en-US"/>
              <a:t>CONCLUSIONs</a:t>
            </a:r>
          </a:p>
        </p:txBody>
      </p:sp>
      <p:graphicFrame>
        <p:nvGraphicFramePr>
          <p:cNvPr id="9" name="Content Placeholder 2">
            <a:extLst>
              <a:ext uri="{FF2B5EF4-FFF2-40B4-BE49-F238E27FC236}">
                <a16:creationId xmlns:a16="http://schemas.microsoft.com/office/drawing/2014/main" id="{A55A91C3-2C9B-4CCE-55F6-F1EB0F13F4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63231885"/>
              </p:ext>
            </p:extLst>
          </p:nvPr>
        </p:nvGraphicFramePr>
        <p:xfrm>
          <a:off x="768327" y="1202072"/>
          <a:ext cx="10693446" cy="46653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8550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99"/>
    </mc:Choice>
    <mc:Fallback xmlns="">
      <p:transition spd="slow" advTm="299"/>
    </mc:Fallback>
  </mc:AlternateContent>
</p:sld>
</file>

<file path=ppt/theme/theme1.xml><?xml version="1.0" encoding="utf-8"?>
<a:theme xmlns:a="http://schemas.openxmlformats.org/drawingml/2006/main" name="Oasis">
  <a:themeElements>
    <a:clrScheme name="Oasis">
      <a:dk1>
        <a:srgbClr val="131313"/>
      </a:dk1>
      <a:lt1>
        <a:sysClr val="window" lastClr="FFFFFF"/>
      </a:lt1>
      <a:dk2>
        <a:srgbClr val="2D2A27"/>
      </a:dk2>
      <a:lt2>
        <a:srgbClr val="F0EBE6"/>
      </a:lt2>
      <a:accent1>
        <a:srgbClr val="9F7667"/>
      </a:accent1>
      <a:accent2>
        <a:srgbClr val="BE8856"/>
      </a:accent2>
      <a:accent3>
        <a:srgbClr val="BD9075"/>
      </a:accent3>
      <a:accent4>
        <a:srgbClr val="939081"/>
      </a:accent4>
      <a:accent5>
        <a:srgbClr val="A16D4C"/>
      </a:accent5>
      <a:accent6>
        <a:srgbClr val="8C8662"/>
      </a:accent6>
      <a:hlink>
        <a:srgbClr val="A57361"/>
      </a:hlink>
      <a:folHlink>
        <a:srgbClr val="8C8662"/>
      </a:folHlink>
    </a:clrScheme>
    <a:fontScheme name="Oasis Font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asis" id="{F87D57D1-6595-40EA-BD1E-F0C34D0EF910}" vid="{ECA7DBCD-4BC8-40F2-8EF4-7A6D942FA19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386e13f6-5c74-435f-bf21-4e84fe4ef95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F2A681DBF3FFA3489C4D22A711E2123F" ma:contentTypeVersion="16" ma:contentTypeDescription="Create a new document." ma:contentTypeScope="" ma:versionID="aff458f276dbe200856105e0e180544e">
  <xsd:schema xmlns:xsd="http://www.w3.org/2001/XMLSchema" xmlns:xs="http://www.w3.org/2001/XMLSchema" xmlns:p="http://schemas.microsoft.com/office/2006/metadata/properties" xmlns:ns3="386e13f6-5c74-435f-bf21-4e84fe4ef951" xmlns:ns4="b6fcfc79-5085-4c56-841d-3e88690cc1ff" targetNamespace="http://schemas.microsoft.com/office/2006/metadata/properties" ma:root="true" ma:fieldsID="54fa55ac46b5dc0deaa30db35eb9c55e" ns3:_="" ns4:_="">
    <xsd:import namespace="386e13f6-5c74-435f-bf21-4e84fe4ef951"/>
    <xsd:import namespace="b6fcfc79-5085-4c56-841d-3e88690cc1ff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3:MediaLengthInSeconds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DateTaken" minOccurs="0"/>
                <xsd:element ref="ns3:MediaServiceSystemTags" minOccurs="0"/>
                <xsd:element ref="ns3:MediaServiceSearchProperties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86e13f6-5c74-435f-bf21-4e84fe4ef95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OCR" ma:index="1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5" nillable="true" ma:displayName="_activity" ma:hidden="true" ma:internalName="_activity">
      <xsd:simpleType>
        <xsd:restriction base="dms:Note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Location" ma:index="23" nillable="true" ma:displayName="Location" ma:description="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6fcfc79-5085-4c56-841d-3e88690cc1ff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DA384A2-DC2C-4578-B8CE-512657D68B32}">
  <ds:schemaRefs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b6fcfc79-5085-4c56-841d-3e88690cc1ff"/>
    <ds:schemaRef ds:uri="386e13f6-5c74-435f-bf21-4e84fe4ef951"/>
  </ds:schemaRefs>
</ds:datastoreItem>
</file>

<file path=customXml/itemProps2.xml><?xml version="1.0" encoding="utf-8"?>
<ds:datastoreItem xmlns:ds="http://schemas.openxmlformats.org/officeDocument/2006/customXml" ds:itemID="{2E12472D-B0EA-467B-BA6E-E86EBC44EC67}">
  <ds:schemaRefs>
    <ds:schemaRef ds:uri="386e13f6-5c74-435f-bf21-4e84fe4ef951"/>
    <ds:schemaRef ds:uri="b6fcfc79-5085-4c56-841d-3e88690cc1f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533346F-C811-4404-B626-0E7631B2121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3083d15-7273-40c1-b7db-39efd9ccc17a}" enabled="0" method="" siteId="{43083d15-7273-40c1-b7db-39efd9ccc17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2199</Words>
  <Application>Microsoft Office PowerPoint</Application>
  <PresentationFormat>Widescreen</PresentationFormat>
  <Paragraphs>208</Paragraphs>
  <Slides>10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Arial</vt:lpstr>
      <vt:lpstr>Calibri</vt:lpstr>
      <vt:lpstr>Neue Haas Grotesk Text Pro</vt:lpstr>
      <vt:lpstr>Oasis</vt:lpstr>
      <vt:lpstr>PowerPoint Presentation</vt:lpstr>
      <vt:lpstr>CONTENT</vt:lpstr>
      <vt:lpstr>PowerPoint Presentation</vt:lpstr>
      <vt:lpstr>PowerPoint Presentation</vt:lpstr>
      <vt:lpstr>How the controller works</vt:lpstr>
      <vt:lpstr>The workload</vt:lpstr>
      <vt:lpstr>RESNET-18 Performance</vt:lpstr>
      <vt:lpstr>Capacitive Sensitivity</vt:lpstr>
      <vt:lpstr>Inductive Sensitivity</vt:lpstr>
      <vt:lpstr>CONCLUSIONs</vt:lpstr>
    </vt:vector>
  </TitlesOfParts>
  <Company>NVIDIA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Jakub Mroczek</dc:creator>
  <cp:lastModifiedBy>Jakub Mroczek</cp:lastModifiedBy>
  <cp:revision>2</cp:revision>
  <dcterms:created xsi:type="dcterms:W3CDTF">2026-04-29T23:04:30Z</dcterms:created>
  <dcterms:modified xsi:type="dcterms:W3CDTF">2026-05-01T02:31:43Z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0x010100F2A681DBF3FFA3489C4D22A711E2123F</vt:lpwstr>
  </property>
</Properties>
</file>